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TextBox 5"/>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a:t>
            </a:r>
          </a:p>
        </p:txBody>
      </p:sp>
      <p:sp>
        <p:nvSpPr>
          <p:cNvPr id="7" name="TextBox 6"/>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Generative AI for SEO</a:t>
            </a:r>
          </a:p>
        </p:txBody>
      </p:sp>
      <p:sp>
        <p:nvSpPr>
          <p:cNvPr id="8" name="Rectangle 7"/>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C11</a:t>
            </a:r>
          </a:p>
          <a:p>
            <a:pPr algn="l">
              <a:spcAft>
                <a:spcPts val="600"/>
              </a:spcAft>
            </a:pPr>
            <a:r>
              <a:rPr sz="1400" b="0">
                <a:solidFill>
                  <a:srgbClr val="5B6372"/>
                </a:solidFill>
                <a:latin typeface="Arial"/>
              </a:rPr>
              <a:t>Conducted by Tertiary Infotech Academy Pte Ltd  ·  UEN 201200696W</a:t>
            </a:r>
          </a:p>
        </p:txBody>
      </p:sp>
      <p:sp>
        <p:nvSpPr>
          <p:cNvPr id="10" name="TextBox 9"/>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v1.0  ·  28 July 2026</a:t>
            </a:r>
          </a:p>
        </p:txBody>
      </p:sp>
      <p:sp>
        <p:nvSpPr>
          <p:cNvPr id="11" name="TextBox 10"/>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TRAINERS LISTED FOR C11</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Course Trainer Profiles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Ray Teoh Tham Kim</a:t>
            </a:r>
          </a:p>
          <a:p>
            <a:pPr algn="l">
              <a:spcAft>
                <a:spcPts val="300"/>
              </a:spcAft>
            </a:pPr>
            <a:r>
              <a:rPr sz="1300" b="0">
                <a:solidFill>
                  <a:srgbClr val="5B6372"/>
                </a:solidFill>
                <a:latin typeface="Arial"/>
              </a:rPr>
              <a:t>Digital marketing leader with regional business-growth and training experience.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Patrick Foo</a:t>
            </a:r>
          </a:p>
          <a:p>
            <a:pPr algn="l">
              <a:spcAft>
                <a:spcPts val="300"/>
              </a:spcAft>
            </a:pPr>
            <a:r>
              <a:rPr sz="1300" b="0">
                <a:solidFill>
                  <a:srgbClr val="5B6372"/>
                </a:solidFill>
                <a:latin typeface="Arial"/>
              </a:rPr>
              <a:t>SEO practitioner and adult educator specialising in practical website optimisation.</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Janice Ong</a:t>
            </a:r>
          </a:p>
          <a:p>
            <a:pPr algn="l">
              <a:spcAft>
                <a:spcPts val="300"/>
              </a:spcAft>
            </a:pPr>
            <a:r>
              <a:rPr sz="1300" b="0">
                <a:solidFill>
                  <a:srgbClr val="5B6372"/>
                </a:solidFill>
                <a:latin typeface="Arial"/>
              </a:rPr>
              <a:t>Business, e-commerce and digital marketing leader with extensive training experience.</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Your name, organisation and role.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 page, product or service you would like more people to find.</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One SEO task you currently do manually.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Which assistant you can access today: ChatGPT, Claude or Gemini.</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10712"/>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46904"/>
            <a:ext cx="3973068" cy="1152144"/>
          </a:xfrm>
          <a:prstGeom prst="rect">
            <a:avLst/>
          </a:prstGeom>
          <a:noFill/>
        </p:spPr>
        <p:txBody>
          <a:bodyPr wrap="square" anchor="ctr">
            <a:spAutoFit/>
          </a:bodyPr>
          <a:lstStyle/>
          <a:p>
            <a:pPr algn="l">
              <a:spcAft>
                <a:spcPts val="400"/>
              </a:spcAft>
            </a:pPr>
            <a:r>
              <a:rPr sz="1500" b="0">
                <a:solidFill>
                  <a:srgbClr val="161B26"/>
                </a:solidFill>
                <a:latin typeface="Arial"/>
              </a:rPr>
              <a:t>Learn by doing — try every hands-on lab.</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MATERIALS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Access Course Materials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C11 course page or the trainer-supplied Drive folder</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courseware links for this course</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Download the Slides, Learner Guide and Lesson Plan</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Open the Activities folder for all six labs</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Keep the files together as you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
        <p:nvSpPr>
          <p:cNvPr id="39" name="TextBox 38"/>
          <p:cNvSpPr txBox="1"/>
          <p:nvPr/>
        </p:nvSpPr>
        <p:spPr>
          <a:xfrm>
            <a:off x="777240" y="5943600"/>
            <a:ext cx="10607040" cy="365760"/>
          </a:xfrm>
          <a:prstGeom prst="rect">
            <a:avLst/>
          </a:prstGeom>
          <a:noFill/>
        </p:spPr>
        <p:txBody>
          <a:bodyPr wrap="square" anchor="t">
            <a:spAutoFit/>
          </a:bodyPr>
          <a:lstStyle/>
          <a:p>
            <a:pPr algn="ctr">
              <a:spcAft>
                <a:spcPts val="400"/>
              </a:spcAft>
            </a:pPr>
            <a:r>
              <a:rPr sz="1500" b="1">
                <a:solidFill>
                  <a:srgbClr val="1F6FEB"/>
                </a:solidFill>
                <a:latin typeface="Arial"/>
              </a:rPr>
              <a:t>Course page:  tertiarycourses.com.sg/generative-ai-for-seo.html</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SCHEDULE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Lesson Plan — 1 Day, 7.5 instructional hours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Course sequence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format</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Research, create, optimise and verify one evidence-led SEO workflow</a:t>
            </a:r>
          </a:p>
          <a:p>
            <a:pPr>
              <a:spcAft>
                <a:spcPts val="1000"/>
              </a:spcAft>
            </a:pPr>
            <a:r>
              <a:rPr sz="1400" b="0">
                <a:solidFill>
                  <a:srgbClr val="5B6372"/>
                </a:solidFill>
                <a:latin typeface="Arial"/>
              </a:rPr>
              <a:t>–  Topic 1: Getting Started with Generative AI for SEO (Labs 1–3)</a:t>
            </a:r>
          </a:p>
          <a:p>
            <a:pPr>
              <a:spcAft>
                <a:spcPts val="1000"/>
              </a:spcAft>
            </a:pPr>
            <a:r>
              <a:rPr sz="1400" b="0">
                <a:solidFill>
                  <a:srgbClr val="5B6372"/>
                </a:solidFill>
                <a:latin typeface="Arial"/>
              </a:rPr>
              <a:t>–  Topic 2: Creating and Optimising SEO Content with Generative AI (Labs 4–6)</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Daily timing</a:t>
            </a:r>
          </a:p>
          <a:p>
            <a:pPr>
              <a:spcAft>
                <a:spcPts val="1000"/>
              </a:spcAft>
            </a:pPr>
            <a:r>
              <a:rPr sz="1400" b="0">
                <a:solidFill>
                  <a:srgbClr val="5B6372"/>
                </a:solidFill>
                <a:latin typeface="Arial"/>
              </a:rPr>
              <a:t>–  9:30 am – 6:30 pm (1-hour lunch; two 15-minute tea breaks; 7.5 instructional hours)</a:t>
            </a:r>
          </a:p>
          <a:p>
            <a:pPr>
              <a:spcAft>
                <a:spcPts val="1000"/>
              </a:spcAft>
            </a:pPr>
            <a:r>
              <a:rPr sz="1600" b="0">
                <a:solidFill>
                  <a:srgbClr val="161B26"/>
                </a:solidFill>
                <a:latin typeface="Arial"/>
              </a:rPr>
              <a:t>•  Instructional time</a:t>
            </a:r>
          </a:p>
          <a:p>
            <a:pPr>
              <a:spcAft>
                <a:spcPts val="1000"/>
              </a:spcAft>
            </a:pPr>
            <a:r>
              <a:rPr sz="1400" b="0">
                <a:solidFill>
                  <a:srgbClr val="5B6372"/>
                </a:solidFill>
                <a:latin typeface="Arial"/>
              </a:rPr>
              <a:t>–  7.5 hours · 6 connected labs</a:t>
            </a:r>
          </a:p>
          <a:p>
            <a:pPr>
              <a:spcAft>
                <a:spcPts val="1000"/>
              </a:spcAft>
            </a:pPr>
            <a:r>
              <a:rPr sz="1600" b="0">
                <a:solidFill>
                  <a:srgbClr val="161B26"/>
                </a:solidFill>
                <a:latin typeface="Arial"/>
              </a:rPr>
              <a:t>•  Learning arc</a:t>
            </a:r>
          </a:p>
          <a:p>
            <a:pPr>
              <a:spcAft>
                <a:spcPts val="1000"/>
              </a:spcAft>
            </a:pPr>
            <a:r>
              <a:rPr sz="1400" b="0">
                <a:solidFill>
                  <a:srgbClr val="5B6372"/>
                </a:solidFill>
                <a:latin typeface="Arial"/>
              </a:rPr>
              <a:t>–  Concept → demonstrate → build → verify → discuss → recap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Set Up &amp; Prompt</a:t>
            </a:r>
          </a:p>
          <a:p>
            <a:pPr algn="l">
              <a:spcAft>
                <a:spcPts val="300"/>
              </a:spcAft>
            </a:pPr>
            <a:r>
              <a:rPr sz="1300" b="0">
                <a:solidFill>
                  <a:srgbClr val="5B6372"/>
                </a:solidFill>
                <a:latin typeface="Arial"/>
              </a:rPr>
              <a:t>Explain how SEO and generative AI work together, set safe working boundaries and use a structured prompt-and-review method.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Research &amp; Plan</a:t>
            </a:r>
          </a:p>
          <a:p>
            <a:pPr algn="l">
              <a:spcAft>
                <a:spcPts val="300"/>
              </a:spcAft>
            </a:pPr>
            <a:r>
              <a:rPr sz="1300" b="0">
                <a:solidFill>
                  <a:srgbClr val="5B6372"/>
                </a:solidFill>
                <a:latin typeface="Arial"/>
              </a:rPr>
              <a:t>Build an evidence-led keyword universe, topic clusters and a search-intent content plan with AI assistance.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&amp; Optimise</a:t>
            </a:r>
          </a:p>
          <a:p>
            <a:pPr algn="l">
              <a:spcAft>
                <a:spcPts val="300"/>
              </a:spcAft>
            </a:pPr>
            <a:r>
              <a:rPr sz="1300" b="0">
                <a:solidFill>
                  <a:srgbClr val="5B6372"/>
                </a:solidFill>
                <a:latin typeface="Arial"/>
              </a:rPr>
              <a:t>Create an SEO content brief, outline, title, meta description and on-page draft that remain grounded in approved sources.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Audit &amp; Verify</a:t>
            </a:r>
          </a:p>
          <a:p>
            <a:pPr algn="l">
              <a:spcAft>
                <a:spcPts val="300"/>
              </a:spcAft>
            </a:pPr>
            <a:r>
              <a:rPr sz="1300" b="0">
                <a:solidFill>
                  <a:srgbClr val="5B6372"/>
                </a:solidFill>
                <a:latin typeface="Arial"/>
              </a:rPr>
              <a:t>Audit and improve an existing page for content, on-page and technical SEO, then verify quality against Google guidance.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APPROACH</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How You'll Learn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41424"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1424"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Trainer demonstrates the concept</a:t>
            </a:r>
          </a:p>
        </p:txBody>
      </p:sp>
      <p:sp>
        <p:nvSpPr>
          <p:cNvPr id="12" name="TextBox 11"/>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3" name="Rectangle 12"/>
          <p:cNvSpPr/>
          <p:nvPr/>
        </p:nvSpPr>
        <p:spPr>
          <a:xfrm>
            <a:off x="2966313"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6313"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0497"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30497"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3112617"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You build it yourself in the hands-on lab</a:t>
            </a:r>
          </a:p>
        </p:txBody>
      </p:sp>
      <p:sp>
        <p:nvSpPr>
          <p:cNvPr id="18" name="TextBox 17"/>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9" name="Rectangle 18"/>
          <p:cNvSpPr/>
          <p:nvPr/>
        </p:nvSpPr>
        <p:spPr>
          <a:xfrm>
            <a:off x="5155386"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55386"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19570"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19570"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5301690"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Verify with the lab's 'Test it' step</a:t>
            </a:r>
          </a:p>
        </p:txBody>
      </p:sp>
      <p:sp>
        <p:nvSpPr>
          <p:cNvPr id="24" name="TextBox 23"/>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5" name="Rectangle 24"/>
          <p:cNvSpPr/>
          <p:nvPr/>
        </p:nvSpPr>
        <p:spPr>
          <a:xfrm>
            <a:off x="7344459"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44459"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08643"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08643"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4</a:t>
            </a:r>
          </a:p>
        </p:txBody>
      </p:sp>
      <p:sp>
        <p:nvSpPr>
          <p:cNvPr id="29" name="TextBox 28"/>
          <p:cNvSpPr txBox="1"/>
          <p:nvPr/>
        </p:nvSpPr>
        <p:spPr>
          <a:xfrm>
            <a:off x="7490763"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Discuss and troubleshoot together</a:t>
            </a:r>
          </a:p>
        </p:txBody>
      </p:sp>
      <p:sp>
        <p:nvSpPr>
          <p:cNvPr id="30" name="TextBox 29"/>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1" name="Rectangle 30"/>
          <p:cNvSpPr/>
          <p:nvPr/>
        </p:nvSpPr>
        <p:spPr>
          <a:xfrm>
            <a:off x="9533532" y="2331720"/>
            <a:ext cx="1878177"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33532" y="2331720"/>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097716" y="2715768"/>
            <a:ext cx="749808" cy="7498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0977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5</a:t>
            </a:r>
          </a:p>
        </p:txBody>
      </p:sp>
      <p:sp>
        <p:nvSpPr>
          <p:cNvPr id="35" name="TextBox 34"/>
          <p:cNvSpPr txBox="1"/>
          <p:nvPr/>
        </p:nvSpPr>
        <p:spPr>
          <a:xfrm>
            <a:off x="9679836" y="3749040"/>
            <a:ext cx="1585569" cy="1325880"/>
          </a:xfrm>
          <a:prstGeom prst="rect">
            <a:avLst/>
          </a:prstGeom>
          <a:noFill/>
        </p:spPr>
        <p:txBody>
          <a:bodyPr wrap="square" anchor="t">
            <a:spAutoFit/>
          </a:bodyPr>
          <a:lstStyle/>
          <a:p>
            <a:pPr algn="ctr">
              <a:spcAft>
                <a:spcPts val="400"/>
              </a:spcAft>
            </a:pPr>
            <a:r>
              <a:rPr sz="1400" b="0">
                <a:solidFill>
                  <a:srgbClr val="161B26"/>
                </a:solidFill>
                <a:latin typeface="Arial"/>
              </a:rPr>
              <a:t>Recap against the learning outcomes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CORE CONCEPTS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The AI-Assisted SEO Operating System</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OVERVIEW</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Four Kinds of Information Separate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Observed evidence</a:t>
            </a:r>
          </a:p>
          <a:p>
            <a:pPr algn="l">
              <a:spcAft>
                <a:spcPts val="300"/>
              </a:spcAft>
            </a:pPr>
            <a:r>
              <a:rPr sz="1300" b="0">
                <a:solidFill>
                  <a:srgbClr val="5B6372"/>
                </a:solidFill>
                <a:latin typeface="Arial"/>
              </a:rPr>
              <a:t>Source-linked business facts, query data, page code and performance exports.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AI suggestions</a:t>
            </a:r>
          </a:p>
          <a:p>
            <a:pPr algn="l">
              <a:spcAft>
                <a:spcPts val="300"/>
              </a:spcAft>
            </a:pPr>
            <a:r>
              <a:rPr sz="1300" b="0">
                <a:solidFill>
                  <a:srgbClr val="5B6372"/>
                </a:solidFill>
                <a:latin typeface="Arial"/>
              </a:rPr>
              <a:t>Proposals to compare or refine; never treated as measurements or guarantees.</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Human decisions</a:t>
            </a:r>
          </a:p>
          <a:p>
            <a:pPr algn="l">
              <a:spcAft>
                <a:spcPts val="300"/>
              </a:spcAft>
            </a:pPr>
            <a:r>
              <a:rPr sz="1300" b="0">
                <a:solidFill>
                  <a:srgbClr val="5B6372"/>
                </a:solidFill>
                <a:latin typeface="Arial"/>
              </a:rPr>
              <a:t>Approved audience, priority, page purpose, wording, release and stop decisions.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Unknowns</a:t>
            </a:r>
          </a:p>
          <a:p>
            <a:pPr algn="l">
              <a:spcAft>
                <a:spcPts val="300"/>
              </a:spcAft>
            </a:pPr>
            <a:r>
              <a:rPr sz="1300" b="0">
                <a:solidFill>
                  <a:srgbClr val="5B6372"/>
                </a:solidFill>
                <a:latin typeface="Arial"/>
              </a:rPr>
              <a:t>Missing or uncertain information that stays visible until it can be resolved.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BUILDING BLOCKS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G-C-C-S-O-R Prompt Framework</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Goal</a:t>
            </a:r>
          </a:p>
          <a:p>
            <a:pPr algn="l">
              <a:spcAft>
                <a:spcPts val="300"/>
              </a:spcAft>
            </a:pPr>
            <a:r>
              <a:rPr sz="1200" b="0">
                <a:solidFill>
                  <a:srgbClr val="5B6372"/>
                </a:solidFill>
                <a:latin typeface="Arial"/>
              </a:rPr>
              <a:t>One task and the decision the output must support.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Context</a:t>
            </a:r>
          </a:p>
          <a:p>
            <a:pPr algn="l">
              <a:spcAft>
                <a:spcPts val="300"/>
              </a:spcAft>
            </a:pPr>
            <a:r>
              <a:rPr sz="1200" b="0">
                <a:solidFill>
                  <a:srgbClr val="5B6372"/>
                </a:solidFill>
                <a:latin typeface="Arial"/>
              </a:rPr>
              <a:t>Audience, offer, page job and business situation.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Constraints</a:t>
            </a:r>
          </a:p>
          <a:p>
            <a:pPr algn="l">
              <a:spcAft>
                <a:spcPts val="300"/>
              </a:spcAft>
            </a:pPr>
            <a:r>
              <a:rPr sz="1200" b="0">
                <a:solidFill>
                  <a:srgbClr val="5B6372"/>
                </a:solidFill>
                <a:latin typeface="Arial"/>
              </a:rPr>
              <a:t>Scope, exclusions, tone, privacy and policy boundaries.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Sources</a:t>
            </a:r>
          </a:p>
          <a:p>
            <a:pPr algn="l">
              <a:spcAft>
                <a:spcPts val="300"/>
              </a:spcAft>
            </a:pPr>
            <a:r>
              <a:rPr sz="1200" b="0">
                <a:solidFill>
                  <a:srgbClr val="5B6372"/>
                </a:solidFill>
                <a:latin typeface="Arial"/>
              </a:rPr>
              <a:t>Delimited evidence the assistant may use.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Output</a:t>
            </a:r>
          </a:p>
          <a:p>
            <a:pPr algn="l">
              <a:spcAft>
                <a:spcPts val="300"/>
              </a:spcAft>
            </a:pPr>
            <a:r>
              <a:rPr sz="1200" b="0">
                <a:solidFill>
                  <a:srgbClr val="5B6372"/>
                </a:solidFill>
                <a:latin typeface="Arial"/>
              </a:rPr>
              <a:t>A precise schema, length or example.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Review</a:t>
            </a:r>
          </a:p>
          <a:p>
            <a:pPr algn="l">
              <a:spcAft>
                <a:spcPts val="300"/>
              </a:spcAft>
            </a:pPr>
            <a:r>
              <a:rPr sz="1200" b="0">
                <a:solidFill>
                  <a:srgbClr val="5B6372"/>
                </a:solidFill>
                <a:latin typeface="Arial"/>
              </a:rPr>
              <a:t>Claim checks, missing evidence and human acceptance criteria.</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C11 OPERATING PRINCIPLE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AI accelerates the workflow; evidence and judgment determine the quality.</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Never ask a model to invent demand, guarantee rankings or replace the human editor.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Will Build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Research system</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AI-ready brief</a:t>
            </a:r>
          </a:p>
          <a:p>
            <a:pPr>
              <a:spcAft>
                <a:spcPts val="900"/>
              </a:spcAft>
            </a:pPr>
            <a:r>
              <a:rPr sz="1400" b="0">
                <a:solidFill>
                  <a:srgbClr val="161B26"/>
                </a:solidFill>
                <a:latin typeface="Arial"/>
              </a:rPr>
              <a:t>•  keyword evidence</a:t>
            </a:r>
          </a:p>
          <a:p>
            <a:pPr>
              <a:spcAft>
                <a:spcPts val="900"/>
              </a:spcAft>
            </a:pPr>
            <a:r>
              <a:rPr sz="1400" b="0">
                <a:solidFill>
                  <a:srgbClr val="161B26"/>
                </a:solidFill>
                <a:latin typeface="Arial"/>
              </a:rPr>
              <a:t>•  topic clusters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Content system</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intent plan</a:t>
            </a:r>
          </a:p>
          <a:p>
            <a:pPr>
              <a:spcAft>
                <a:spcPts val="900"/>
              </a:spcAft>
            </a:pPr>
            <a:r>
              <a:rPr sz="1400" b="0">
                <a:solidFill>
                  <a:srgbClr val="161B26"/>
                </a:solidFill>
                <a:latin typeface="Arial"/>
              </a:rPr>
              <a:t>•  brief and outline</a:t>
            </a:r>
          </a:p>
          <a:p>
            <a:pPr>
              <a:spcAft>
                <a:spcPts val="900"/>
              </a:spcAft>
            </a:pPr>
            <a:r>
              <a:rPr sz="1400" b="0">
                <a:solidFill>
                  <a:srgbClr val="161B26"/>
                </a:solidFill>
                <a:latin typeface="Arial"/>
              </a:rPr>
              <a:t>•  metadata and page draft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Quality system</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page audit</a:t>
            </a:r>
          </a:p>
          <a:p>
            <a:pPr>
              <a:spcAft>
                <a:spcPts val="900"/>
              </a:spcAft>
            </a:pPr>
            <a:r>
              <a:rPr sz="1400" b="0">
                <a:solidFill>
                  <a:srgbClr val="161B26"/>
                </a:solidFill>
                <a:latin typeface="Arial"/>
              </a:rPr>
              <a:t>•  claim ledger</a:t>
            </a:r>
          </a:p>
          <a:p>
            <a:pPr>
              <a:spcAft>
                <a:spcPts val="900"/>
              </a:spcAft>
            </a:pPr>
            <a:r>
              <a:rPr sz="1400" b="0">
                <a:solidFill>
                  <a:srgbClr val="161B26"/>
                </a:solidFill>
                <a:latin typeface="Arial"/>
              </a:rPr>
              <a:t>•  prioritised improvement plan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THE LEARNING ARC</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Learning Arc in Every Lab</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Open the checkpoint and approved source files.</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Use a bounded prompt to transform—not invent—evidence.</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Make a human decision and save it in the working artifact.</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Run the Test It check and keep the checkpoint for the next lab.</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BEFORE ANY PAGE CHANGE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The Human Review Gate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Evidence</a:t>
            </a:r>
          </a:p>
          <a:p>
            <a:pPr algn="l">
              <a:spcAft>
                <a:spcPts val="300"/>
              </a:spcAft>
            </a:pPr>
            <a:r>
              <a:rPr sz="1200" b="0">
                <a:solidFill>
                  <a:srgbClr val="5B6372"/>
                </a:solidFill>
                <a:latin typeface="Arial"/>
              </a:rPr>
              <a:t>Can every material claim and metric be traced?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Intent</a:t>
            </a:r>
          </a:p>
          <a:p>
            <a:pPr algn="l">
              <a:spcAft>
                <a:spcPts val="300"/>
              </a:spcAft>
            </a:pPr>
            <a:r>
              <a:rPr sz="1200" b="0">
                <a:solidFill>
                  <a:srgbClr val="5B6372"/>
                </a:solidFill>
                <a:latin typeface="Arial"/>
              </a:rPr>
              <a:t>Does the page help the visitor complete the intended job?</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Quality</a:t>
            </a:r>
          </a:p>
          <a:p>
            <a:pPr algn="l">
              <a:spcAft>
                <a:spcPts val="300"/>
              </a:spcAft>
            </a:pPr>
            <a:r>
              <a:rPr sz="1200" b="0">
                <a:solidFill>
                  <a:srgbClr val="5B6372"/>
                </a:solidFill>
                <a:latin typeface="Arial"/>
              </a:rPr>
              <a:t>Is the contribution accurate, useful, original and readable?</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Technical</a:t>
            </a:r>
          </a:p>
          <a:p>
            <a:pPr algn="l">
              <a:spcAft>
                <a:spcPts val="300"/>
              </a:spcAft>
            </a:pPr>
            <a:r>
              <a:rPr sz="1200" b="0">
                <a:solidFill>
                  <a:srgbClr val="5B6372"/>
                </a:solidFill>
                <a:latin typeface="Arial"/>
              </a:rPr>
              <a:t>Can the preferred page be crawled, indexed, linked and used?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Rights &amp; privacy</a:t>
            </a:r>
          </a:p>
          <a:p>
            <a:pPr algn="l">
              <a:spcAft>
                <a:spcPts val="300"/>
              </a:spcAft>
            </a:pPr>
            <a:r>
              <a:rPr sz="1200" b="0">
                <a:solidFill>
                  <a:srgbClr val="5B6372"/>
                </a:solidFill>
                <a:latin typeface="Arial"/>
              </a:rPr>
              <a:t>Are data, quotations, media and tool use authorised?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Decision</a:t>
            </a:r>
          </a:p>
          <a:p>
            <a:pPr algn="l">
              <a:spcAft>
                <a:spcPts val="300"/>
              </a:spcAft>
            </a:pPr>
            <a:r>
              <a:rPr sz="1200" b="0">
                <a:solidFill>
                  <a:srgbClr val="5B6372"/>
                </a:solidFill>
                <a:latin typeface="Arial"/>
              </a:rPr>
              <a:t>Publish, Repair or Hold—with an owner and reason.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EA580C"/>
                </a:solidFill>
                <a:latin typeface="Arial"/>
              </a:rPr>
              <a:t>TOPIC 01</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Getting Started with Generative AI for SEO</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SEO and generative AI · ChatGPT, Claude and Gemini · keyword research and topic clusters · search intent · content planning · effective prompting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COURSE COVERAGE First half · 3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Getting Started with Generative AI for SEO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SEO fundamentals</a:t>
            </a:r>
          </a:p>
          <a:p>
            <a:pPr algn="l">
              <a:spcAft>
                <a:spcPts val="300"/>
              </a:spcAft>
            </a:pPr>
            <a:r>
              <a:rPr sz="1200" b="0">
                <a:solidFill>
                  <a:srgbClr val="5B6372"/>
                </a:solidFill>
                <a:latin typeface="Arial"/>
              </a:rPr>
              <a:t>Help search engines understand a page and help people decide whether it answers their need.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AI assistants</a:t>
            </a:r>
          </a:p>
          <a:p>
            <a:pPr algn="l">
              <a:spcAft>
                <a:spcPts val="300"/>
              </a:spcAft>
            </a:pPr>
            <a:r>
              <a:rPr sz="1200" b="0">
                <a:solidFill>
                  <a:srgbClr val="5B6372"/>
                </a:solidFill>
                <a:latin typeface="Arial"/>
              </a:rPr>
              <a:t>Use ChatGPT, Claude or Gemini to transform supplied evidence, not to invent market facts.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Keyword evidence</a:t>
            </a:r>
          </a:p>
          <a:p>
            <a:pPr algn="l">
              <a:spcAft>
                <a:spcPts val="300"/>
              </a:spcAft>
            </a:pPr>
            <a:r>
              <a:rPr sz="1200" b="0">
                <a:solidFill>
                  <a:srgbClr val="5B6372"/>
                </a:solidFill>
                <a:latin typeface="Arial"/>
              </a:rPr>
              <a:t>Separate observed query data from AI suggestions and label assumptions explicitly.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Topic clusters</a:t>
            </a:r>
          </a:p>
          <a:p>
            <a:pPr algn="l">
              <a:spcAft>
                <a:spcPts val="300"/>
              </a:spcAft>
            </a:pPr>
            <a:r>
              <a:rPr sz="1200" b="0">
                <a:solidFill>
                  <a:srgbClr val="5B6372"/>
                </a:solidFill>
                <a:latin typeface="Arial"/>
              </a:rPr>
              <a:t>Group related queries around one audience problem while preventing overlapping pages.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Search intent</a:t>
            </a:r>
          </a:p>
          <a:p>
            <a:pPr algn="l">
              <a:spcAft>
                <a:spcPts val="300"/>
              </a:spcAft>
            </a:pPr>
            <a:r>
              <a:rPr sz="1200" b="0">
                <a:solidFill>
                  <a:srgbClr val="5B6372"/>
                </a:solidFill>
                <a:latin typeface="Arial"/>
              </a:rPr>
              <a:t>Infer the job behind a query, then confirm it against current result-page evidence.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Structured prompting</a:t>
            </a:r>
          </a:p>
          <a:p>
            <a:pPr algn="l">
              <a:spcAft>
                <a:spcPts val="300"/>
              </a:spcAft>
            </a:pPr>
            <a:r>
              <a:rPr sz="1200" b="0">
                <a:solidFill>
                  <a:srgbClr val="5B6372"/>
                </a:solidFill>
                <a:latin typeface="Arial"/>
              </a:rPr>
              <a:t>Use Goal, Context, Constraints, Sources, Output and Review to make quality observable.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Introduction to SEO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Search engine optimisation helps search systems understand web content and helps people decide whether a result is useful. Search discovery is not a single ranking trick: a page must be discoverable, crawlable, indexable, relevant to a need and useful after the click. Generative AI can accelerate research organisation, comparison, drafting and critique, but it does not create search demand or guarantee visibility.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fluent AI draft can hide weak evidence. Keeping the search process and the AI workflow separate prevents common errors such as treating invented search volume as data, assuming a keyword alone determines ranking or publishing generic pages at scale. The practitioner remains responsible for the purpose, evidence, editorial quality and technical state of the page.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Introduction to SEO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Define the audience, business purpose and page job before opening an AI assistant.</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Collect approved business facts, query evidence and current result-page observations.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Use AI to organise or transform the evidence, then verify the page and monitor real outcomes.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Introduction to SEO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MerlionTrail sells repairable travel organisers. The team wants a useful guide for carry-on packing.</a:t>
            </a:r>
          </a:p>
          <a:p>
            <a:pPr>
              <a:spcAft>
                <a:spcPts val="1000"/>
              </a:spcAft>
            </a:pPr>
            <a:r>
              <a:rPr sz="1600" b="0">
                <a:solidFill>
                  <a:srgbClr val="161B26"/>
                </a:solidFill>
                <a:latin typeface="Arial"/>
              </a:rPr>
              <a:t>•  Keyword evidence and current result pages suggest several related questions, but no ranking promise.</a:t>
            </a:r>
          </a:p>
          <a:p>
            <a:pPr>
              <a:spcAft>
                <a:spcPts val="1000"/>
              </a:spcAft>
            </a:pPr>
            <a:r>
              <a:rPr sz="1600" b="0">
                <a:solidFill>
                  <a:srgbClr val="161B26"/>
                </a:solidFill>
                <a:latin typeface="Arial"/>
              </a:rPr>
              <a:t>•  AI organises the evidence into a plan; the human owner supplies product facts and approves the result.</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has a defined user need and sources that can be supplied to the assistant.</a:t>
            </a:r>
          </a:p>
          <a:p>
            <a:pPr>
              <a:spcAft>
                <a:spcPts val="1000"/>
              </a:spcAft>
            </a:pPr>
            <a:r>
              <a:rPr sz="1400" b="0">
                <a:solidFill>
                  <a:srgbClr val="5B6372"/>
                </a:solidFill>
                <a:latin typeface="Arial"/>
              </a:rPr>
              <a:t>–  A human can review both the output and the live page before publication.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goal is to mass-produce pages primarily to manipulate search visibility.</a:t>
            </a:r>
          </a:p>
          <a:p>
            <a:pPr>
              <a:spcAft>
                <a:spcPts val="1000"/>
              </a:spcAft>
            </a:pPr>
            <a:r>
              <a:rPr sz="1400" b="0">
                <a:solidFill>
                  <a:srgbClr val="5B6372"/>
                </a:solidFill>
                <a:latin typeface="Arial"/>
              </a:rPr>
              <a:t>–  The only evidence is an AI answer with no traceable source or current query data.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Introduction to SEO and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Purpose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 the audience need and the useful outcome before choosing keywords.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Evidence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Label business facts, observed data, hypotheses and unknowns separately.</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Ownership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Assign a human editor to approve claims, page quality and technical changes.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Setting Up ChatGPT, Claude and Gemini for SEO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ChatGPT, Claude and Gemini are general-purpose AI assistants with changing models and interfaces. For this course, the tool is a workspace for grounded transformation: learners provide a source pack, ask for a defined output and review it against a checklist. The course does not depend on a paid tier, API key, browser extension or automatic publishing connection.</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Good setup is mostly governance. Confidential strategy, personal information, credentials and unreleased client material should not be pasted into an unapproved service. A reusable project brief, source boundary and output convention make results more consistent across tools without assuming that any vendor has unique access to Google ranking data.</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Setting Up ChatGPT, Claude and Gemini for SEO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Choose one approved assistant and create a fresh conversation for the C11 synthetic scenario.</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Paste only the supplied source pack and state that missing information must be marked Unknown.</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Save the prompt, output and human edits in local files so the reasoning trail is reviewable.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Setting Up ChatGPT, Claude and Gemini for SEO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A learner opens one assistant and adds the MerlionTrail source pack as delimited context.</a:t>
            </a:r>
          </a:p>
          <a:p>
            <a:pPr>
              <a:spcAft>
                <a:spcPts val="1000"/>
              </a:spcAft>
            </a:pPr>
            <a:r>
              <a:rPr sz="1600" b="0">
                <a:solidFill>
                  <a:srgbClr val="161B26"/>
                </a:solidFill>
                <a:latin typeface="Arial"/>
              </a:rPr>
              <a:t>•  The assistant must cite the supplied section behind each proposed claim and label any assumption.</a:t>
            </a:r>
          </a:p>
          <a:p>
            <a:pPr>
              <a:spcAft>
                <a:spcPts val="1000"/>
              </a:spcAft>
            </a:pPr>
            <a:r>
              <a:rPr sz="1600" b="0">
                <a:solidFill>
                  <a:srgbClr val="161B26"/>
                </a:solidFill>
                <a:latin typeface="Arial"/>
              </a:rPr>
              <a:t>•  The learner compares one small task in a second tool only if time allows; no account is mandatory.</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organisation permits the selected tool and the source material is appropriate to share.</a:t>
            </a:r>
          </a:p>
          <a:p>
            <a:pPr>
              <a:spcAft>
                <a:spcPts val="1000"/>
              </a:spcAft>
            </a:pPr>
            <a:r>
              <a:rPr sz="1400" b="0">
                <a:solidFill>
                  <a:srgbClr val="5B6372"/>
                </a:solidFill>
                <a:latin typeface="Arial"/>
              </a:rPr>
              <a:t>–  The output can be stored and reviewed before it affects a live page.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prompt would contain passwords, unpublished client data or sensitive personal information.</a:t>
            </a:r>
          </a:p>
          <a:p>
            <a:pPr>
              <a:spcAft>
                <a:spcPts val="1000"/>
              </a:spcAft>
            </a:pPr>
            <a:r>
              <a:rPr sz="1400" b="0">
                <a:solidFill>
                  <a:srgbClr val="5B6372"/>
                </a:solidFill>
                <a:latin typeface="Arial"/>
              </a:rPr>
              <a:t>–  A browser add-on or automation would publish or change a website without approval.</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Setting Up ChatGPT, Claude and Gemini for SEO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Minimum data</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Share only the context needed for the specific SEO task.</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Clear boundary</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Tell the assistant which sources it may use and how to show unknowns.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Review trail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Keep the input, first output, edits and final decision together.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AI-Powered Keyword Research and Topic Clusters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Keyword research discovers the language people use around a need. A useful keyword record includes the query, source, date, location, evidence notes and an intended page job. A topic cluster groups closely related queries under a coherent primary page and supporting pages; it is an information-architecture decision, not a licence to create one near-duplicate page per phrase.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is good at expanding seeds, normalising wording and proposing groups, but it can fabricate volume, competition and trends. Evidence from Keyword Planner, Search Console, customer language or a current result-page review must remain distinguishable from an AI suggestion. Human review removes irrelevant phrases and resolves clusters that would compete with each other.</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AI-Powered Keyword Research and Topic Clusters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Start with approved products, customer questions and a small set of evidence-backed seed queries.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Ask AI for labelled expansions and preliminary semantic groups without inventing numeric metrics.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Validate relevance, combine overlapping clusters and assign one clear page job to each retained group.</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AI-Powered Keyword Research and Topic Clusters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Seeds include 'packing cubes singapore', 'carry on packing list' and 'repair travel organiser'.</a:t>
            </a:r>
          </a:p>
          <a:p>
            <a:pPr>
              <a:spcAft>
                <a:spcPts val="1000"/>
              </a:spcAft>
            </a:pPr>
            <a:r>
              <a:rPr sz="1600" b="0">
                <a:solidFill>
                  <a:srgbClr val="161B26"/>
                </a:solidFill>
                <a:latin typeface="Arial"/>
              </a:rPr>
              <a:t>•  AI proposes variants, but synthetic training metrics remain in the evidence CSV—not in the model output.</a:t>
            </a:r>
          </a:p>
          <a:p>
            <a:pPr>
              <a:spcAft>
                <a:spcPts val="1000"/>
              </a:spcAft>
            </a:pPr>
            <a:r>
              <a:rPr sz="1600" b="0">
                <a:solidFill>
                  <a:srgbClr val="161B26"/>
                </a:solidFill>
                <a:latin typeface="Arial"/>
              </a:rPr>
              <a:t>•  The editor keeps three clusters: choose organisers, pack a carry-on and repair/reuse travel gear.</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There is a real offer or audience problem and at least one traceable source of query evidence.</a:t>
            </a:r>
          </a:p>
          <a:p>
            <a:pPr>
              <a:spcAft>
                <a:spcPts val="1000"/>
              </a:spcAft>
            </a:pPr>
            <a:r>
              <a:rPr sz="1400" b="0">
                <a:solidFill>
                  <a:srgbClr val="5B6372"/>
                </a:solidFill>
                <a:latin typeface="Arial"/>
              </a:rPr>
              <a:t>–  Clusters can be mapped to distinct page purposes rather than wording variations alone.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Numeric demand or competition comes only from an AI response.</a:t>
            </a:r>
          </a:p>
          <a:p>
            <a:pPr>
              <a:spcAft>
                <a:spcPts val="1000"/>
              </a:spcAft>
            </a:pPr>
            <a:r>
              <a:rPr sz="1400" b="0">
                <a:solidFill>
                  <a:srgbClr val="5B6372"/>
                </a:solidFill>
                <a:latin typeface="Arial"/>
              </a:rPr>
              <a:t>–  The plan creates many thin pages whose purpose and content substantially overlap.</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AI-Powered Keyword Research and Topic Clusters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Source every row</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where the query came from and when the evidence was observed.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Separate facts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Keep measured values, AI suggestions and human decisions in different columns.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Prevent overlap</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Give each retained cluster one primary need and one primary destination page.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Understanding Search Intent and Content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Search intent is the job a person is trying to complete. A practical planning heuristic labels a query as learn, compare, act or navigate, then records the required evidence and suitable format. Intent is inferred—not read directly from a keyword—and mixed intents are common. Current result-page features and leading page types provide observations that a human must interpret.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page can mention a relevant phrase yet fail the user if its format and depth do not match the job. A content plan joins cluster, audience, intent, page type, unique value, evidence, internal links and success signal. AI can make this matrix faster to assemble, but it cannot safely decide business priority or claim that a result-page pattern will remain unchanged.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Understanding Search Intent and Content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Review each cluster and state the user job in one sentence using an action verb.</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Record current result-page observations and distinguish dominant, secondary and uncertain intent.</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Choose a page type, unique contribution, evidence plan, internal links and measurable next action.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Understanding Search Intent and Content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'Carry on packing list' is mainly a learn job; a checklist guide fits better than a category page.</a:t>
            </a:r>
          </a:p>
          <a:p>
            <a:pPr>
              <a:spcAft>
                <a:spcPts val="1000"/>
              </a:spcAft>
            </a:pPr>
            <a:r>
              <a:rPr sz="1600" b="0">
                <a:solidFill>
                  <a:srgbClr val="161B26"/>
                </a:solidFill>
                <a:latin typeface="Arial"/>
              </a:rPr>
              <a:t>•  'Packing cubes singapore' mixes compare and act; a category page needs selection guidance and real facts.</a:t>
            </a:r>
          </a:p>
          <a:p>
            <a:pPr>
              <a:spcAft>
                <a:spcPts val="1000"/>
              </a:spcAft>
            </a:pPr>
            <a:r>
              <a:rPr sz="1600" b="0">
                <a:solidFill>
                  <a:srgbClr val="161B26"/>
                </a:solidFill>
                <a:latin typeface="Arial"/>
              </a:rPr>
              <a:t>•  Both pages can link naturally without repeating the same primary purpose.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team can review current search results and articulate what a satisfied visitor would accomplish.</a:t>
            </a:r>
          </a:p>
          <a:p>
            <a:pPr>
              <a:spcAft>
                <a:spcPts val="1000"/>
              </a:spcAft>
            </a:pPr>
            <a:r>
              <a:rPr sz="1400" b="0">
                <a:solidFill>
                  <a:srgbClr val="5B6372"/>
                </a:solidFill>
                <a:latin typeface="Arial"/>
              </a:rPr>
              <a:t>–  The plan includes unique experience or approved evidence beyond a generic AI summary.</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Intent is assigned from an AI label without checking the query context or result page.</a:t>
            </a:r>
          </a:p>
          <a:p>
            <a:pPr>
              <a:spcAft>
                <a:spcPts val="1000"/>
              </a:spcAft>
            </a:pPr>
            <a:r>
              <a:rPr sz="1400" b="0">
                <a:solidFill>
                  <a:srgbClr val="5B6372"/>
                </a:solidFill>
                <a:latin typeface="Arial"/>
              </a:rPr>
              <a:t>–  A sales page is forced onto a query whose dominant job is to learn or solve a problem.</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Understanding Search Intent and Content Planning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User job</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Write the desired visitor outcome before selecting the page format.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SERP evidence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Date observations and treat them as a snapshot, not a permanent rule.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Unique value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Name the experience, example or data the page contributes.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Effective Prompting for SEO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EA580C"/>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prompt is a working brief. C11 uses G-C-C-S-O-R: Goal, Context, Constraints, Sources, Output and Review. The structure tells the assistant what successful work looks like, confines it to approved evidence and requests a self-check that a human can inspect. Prompting is iterative: the user reviews a first output, identifies a specific defect and changes one instruction or source at a time.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Vague prompts produce generic copy and hide assumptions. A structured prompt reduces ambiguity, makes outputs comparable and allows a claim-to-source check. It does not remove hallucination risk, replace keyword evidence or transfer editorial accountability to the model.</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EA580C"/>
                </a:solidFill>
                <a:latin typeface="Arial"/>
              </a:rPr>
              <a:t>TOPIC 01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Effective Prompting for SEO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State one goal and the exact audience, page job and business context.</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Add constraints, delimit approved sources and specify the output schema or example.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EA580C"/>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EA58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Require a review table for unsupported claims, missing evidence and guideline risks before accepting.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Effective Prompting for SEO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Goal: create a cluster table from the supplied CSV; Context: MerlionTrail Singapore travel gear.</a:t>
            </a:r>
          </a:p>
          <a:p>
            <a:pPr>
              <a:spcAft>
                <a:spcPts val="1000"/>
              </a:spcAft>
            </a:pPr>
            <a:r>
              <a:rPr sz="1600" b="0">
                <a:solidFill>
                  <a:srgbClr val="161B26"/>
                </a:solidFill>
                <a:latin typeface="Arial"/>
              </a:rPr>
              <a:t>•  Constraints: do not invent volume; Sources: only delimited rows; Output: fixed six-column table.</a:t>
            </a:r>
          </a:p>
          <a:p>
            <a:pPr>
              <a:spcAft>
                <a:spcPts val="1000"/>
              </a:spcAft>
            </a:pPr>
            <a:r>
              <a:rPr sz="1600" b="0">
                <a:solidFill>
                  <a:srgbClr val="161B26"/>
                </a:solidFill>
                <a:latin typeface="Arial"/>
              </a:rPr>
              <a:t>•  Review: list excluded terms, overlapping clusters and every statement not supported by a source row.</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task can be evaluated against observable criteria such as fields, sources and page purpose.</a:t>
            </a:r>
          </a:p>
          <a:p>
            <a:pPr>
              <a:spcAft>
                <a:spcPts val="1000"/>
              </a:spcAft>
            </a:pPr>
            <a:r>
              <a:rPr sz="1400" b="0">
                <a:solidFill>
                  <a:srgbClr val="5B6372"/>
                </a:solidFill>
                <a:latin typeface="Arial"/>
              </a:rPr>
              <a:t>–  The user is prepared to inspect and refine the output rather than accept the first response.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prompt asks the model to guarantee ranking, predict proprietary metrics or conceal AI use.</a:t>
            </a:r>
          </a:p>
          <a:p>
            <a:pPr>
              <a:spcAft>
                <a:spcPts val="1000"/>
              </a:spcAft>
            </a:pPr>
            <a:r>
              <a:rPr sz="1400" b="0">
                <a:solidFill>
                  <a:srgbClr val="5B6372"/>
                </a:solidFill>
                <a:latin typeface="Arial"/>
              </a:rPr>
              <a:t>–  The source boundary is empty while the task requires factual claims.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01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Effective Prompting for SEO Tasks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Specific</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audience, task, scope, format and the decision the output supports.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Grounded</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Delimit sources and instruct the model to show Unknown instead of inventing.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Testable</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Request a self-check, then perform an independent human review.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Getting Started with Generative AI for SEO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1</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AI-Ready SEO Brief and Prompt Guardrails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2</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Build the Keyword Universe and Topic Clusters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3</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Map Search Intent and Create the Content Plan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AI-Ready SEO Brief and Prompt Guardrails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1</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set up one AI assistant for the synthetic MerlionTrail scenario, distinguish approved facts from unknowns and create a reusable SEO prompt. The prompt will force the assistant to use supplied sources, label missing information and return a claim-to-source review.</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work-c11/01-ai-ready-seo-brief.md containing the audience, offer, page goal, data boundary, G-C-C-S-O-R prompt, first output and human review decision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Prepare the workspace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Extract approved facts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Build G-C-C-S-O-R</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Run the evidence check</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Text editor · ChatGPT, Claude or Gemini · merliontrail-brand-source-pack.md</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1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AI-Ready SEO Brief and Prompt Guardrails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800" b="0">
                <a:solidFill>
                  <a:srgbClr val="161B26"/>
                </a:solidFill>
                <a:latin typeface="Arial"/>
              </a:rPr>
              <a:t>The file must contain the stated audience and page goal, exactly six approved facts, all listed unknowns, the full G-C-C-S-O-R prompt, a five-row AI output, and one evidence-based Keep, Repair and Hold decision. Search the file for '%' and 'guarantee'; neither may appear unless quoted in a rejection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Keyword Universe and Topic Clusters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2</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work from a synthetic keyword evidence export, preserving source and metric labels while an AI assistant proposes additional wording and preliminary groups. You will reject invented measurements, remove irrelevant terms and make the final clustering decisions yourself.</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work-c11/02-keyword-cluster-workbook.csv and work-c11/02-cluster-decisions.md with source-labelled keywords, AI suggestions, three final clusters, exclusions and overlap decisions</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Inspect evidence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Label suggestions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Cluster by user need</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Resolve overlap</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Spreadsheet · text editor · AI assistant · synthetic-keyword-evidence.csv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2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Build the Keyword Universe and Topic Clusters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800" b="0">
                <a:solidFill>
                  <a:srgbClr val="161B26"/>
                </a:solidFill>
                <a:latin typeface="Arial"/>
              </a:rPr>
              <a:t>The CSV must preserve every supplied source and synthetic metric, contain no numeric value on an AI_SUGGESTION row, use exactly three final cluster names and give every row a human decision and reason. The decisions file must contain at least two observed queries per cluster and at least three exclusions.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01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Map Search Intent and Create the Content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3</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convert the three reviewed clusters into a content plan. The plan distinguishes dominant and secondary intent, records dated result-page observations from a supplied snapshot and assigns each page a unique job, evidence plan, internal links and success signal.</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work-c11/03-intent-content-plan.csv with one approved row per cluster plus a short cannibalisation boundary and human decision for each planned page</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State the user job</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Record SERP clues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Choose page type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Plan links and evidence</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Spreadsheet · AI assistant · cluster decisions · synthetic-serp-observations.csv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3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Map Search Intent and Create the Content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The CSV must contain exactly three planned pages, the three specified primary queries, all three aggregated SERP clues per cluster, the supplied observation date, Intent_Review and Human_Resolution, a verb-led page job, planned URL, Product Editor owner, traceable unique contribution, descriptive anchor text in both directions, success signal, overlap boundary and human decision. No cell may promise a position, traffic amount or guaranteed result.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Recap - Getting Started with Generative AI for SEO</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LO1 - Set Up and Prompt: Explain the SEO and generative-AI relationship, keep evidence separate from suggestions, and use G-C-C-S-O-R with a human review gate.</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LO2 - Research and Plan: Build labelled keyword evidence, resolve three topic clusters, and map each cluster to a distinct intent-led page with dated clues and descriptive internal links.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DC2626"/>
                </a:solidFill>
                <a:latin typeface="Arial"/>
              </a:rPr>
              <a:t>TOPIC 02</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Creating and Optimising SEO Content with Generative AI</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Titles and meta descriptions · briefs, outlines and long-form content · on-page and technical SEO · page audits · fact-checking · Google guidance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COURSE COVERAGE Second half · 3 labs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Key Concepts — Creating and Optimising SEO Content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Search appearance</a:t>
            </a:r>
          </a:p>
          <a:p>
            <a:pPr algn="l">
              <a:spcAft>
                <a:spcPts val="300"/>
              </a:spcAft>
            </a:pPr>
            <a:r>
              <a:rPr sz="1200" b="0">
                <a:solidFill>
                  <a:srgbClr val="5B6372"/>
                </a:solidFill>
                <a:latin typeface="Arial"/>
              </a:rPr>
              <a:t>Write descriptive title and meta preferences while recognising that Google may generate alternatives.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Content brief</a:t>
            </a:r>
          </a:p>
          <a:p>
            <a:pPr algn="l">
              <a:spcAft>
                <a:spcPts val="300"/>
              </a:spcAft>
            </a:pPr>
            <a:r>
              <a:rPr sz="1200" b="0">
                <a:solidFill>
                  <a:srgbClr val="5B6372"/>
                </a:solidFill>
                <a:latin typeface="Arial"/>
              </a:rPr>
              <a:t>Join audience, intent, evidence, unique value, structure, links and acceptance criteria.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People-first drafting</a:t>
            </a:r>
          </a:p>
          <a:p>
            <a:pPr algn="l">
              <a:spcAft>
                <a:spcPts val="300"/>
              </a:spcAft>
            </a:pPr>
            <a:r>
              <a:rPr sz="1200" b="0">
                <a:solidFill>
                  <a:srgbClr val="5B6372"/>
                </a:solidFill>
                <a:latin typeface="Arial"/>
              </a:rPr>
              <a:t>Use AI for structure and options; add original experience, accurate facts and editorial judgment.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On-page signals</a:t>
            </a:r>
          </a:p>
          <a:p>
            <a:pPr algn="l">
              <a:spcAft>
                <a:spcPts val="300"/>
              </a:spcAft>
            </a:pPr>
            <a:r>
              <a:rPr sz="1200" b="0">
                <a:solidFill>
                  <a:srgbClr val="5B6372"/>
                </a:solidFill>
                <a:latin typeface="Arial"/>
              </a:rPr>
              <a:t>Align visible title, headings, body, images and internal links around one clear page job.</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Technical triage</a:t>
            </a:r>
          </a:p>
          <a:p>
            <a:pPr algn="l">
              <a:spcAft>
                <a:spcPts val="300"/>
              </a:spcAft>
            </a:pPr>
            <a:r>
              <a:rPr sz="1200" b="0">
                <a:solidFill>
                  <a:srgbClr val="5B6372"/>
                </a:solidFill>
                <a:latin typeface="Arial"/>
              </a:rPr>
              <a:t>Check indexability, canonical choice, crawlable links, mobile usability and page experience.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Quality control</a:t>
            </a:r>
          </a:p>
          <a:p>
            <a:pPr algn="l">
              <a:spcAft>
                <a:spcPts val="300"/>
              </a:spcAft>
            </a:pPr>
            <a:r>
              <a:rPr sz="1200" b="0">
                <a:solidFill>
                  <a:srgbClr val="5B6372"/>
                </a:solidFill>
                <a:latin typeface="Arial"/>
              </a:rPr>
              <a:t>Verify every material claim, disclose automation where useful and avoid scaled low-value production.</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Generating Titles, Meta Descriptions and On-Page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page title is a preference used among several signals when Google creates a title link. A meta description is a page-specific summary that Google may use when it better describes the page than on-page text. Neither is a fixed-length ranking formula. On-page content should clearly answer the visitor's job with a distinct main heading, useful sections and natural language.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can create alternatives quickly, but generic formulas often cause boilerplate titles, repeated descriptions and keyword stuffing. The editor should choose wording that accurately represents the page, differentiates it from other site pages and sets the right expectation before the click.</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Generating Titles, Meta Descriptions and On-Page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Write the page job and primary topic, then draft several descriptive and concise title options.</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Create a unique meta summary using only facts actually present on that page.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Check title, visible H1, opening, sections and call to action for one coherent promise.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Generating Titles, Meta Descriptions and On-Page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Weak title: 'Packing Cubes, Packing Cube, Best Packing Cubes | MerlionTrail'.</a:t>
            </a:r>
          </a:p>
          <a:p>
            <a:pPr>
              <a:spcAft>
                <a:spcPts val="1000"/>
              </a:spcAft>
            </a:pPr>
            <a:r>
              <a:rPr sz="1600" b="0">
                <a:solidFill>
                  <a:srgbClr val="161B26"/>
                </a:solidFill>
                <a:latin typeface="Arial"/>
              </a:rPr>
              <a:t>•  Improved preference: 'How to Choose Packing Cubes for Carry-On Travel | MerlionTrail'.</a:t>
            </a:r>
          </a:p>
          <a:p>
            <a:pPr>
              <a:spcAft>
                <a:spcPts val="1000"/>
              </a:spcAft>
            </a:pPr>
            <a:r>
              <a:rPr sz="1600" b="0">
                <a:solidFill>
                  <a:srgbClr val="161B26"/>
                </a:solidFill>
                <a:latin typeface="Arial"/>
              </a:rPr>
              <a:t>•  The description summarises the selection guide and repairable construction without a ranking claim.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page has a distinct purpose and approved facts that can support a useful summary.</a:t>
            </a:r>
          </a:p>
          <a:p>
            <a:pPr>
              <a:spcAft>
                <a:spcPts val="1000"/>
              </a:spcAft>
            </a:pPr>
            <a:r>
              <a:rPr sz="1400" b="0">
                <a:solidFill>
                  <a:srgbClr val="5B6372"/>
                </a:solidFill>
                <a:latin typeface="Arial"/>
              </a:rPr>
              <a:t>–  Alternative wording will be reviewed against the actual visible content.</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Titles repeat phrases, add unsupported superlatives or differ materially from the page.</a:t>
            </a:r>
          </a:p>
          <a:p>
            <a:pPr>
              <a:spcAft>
                <a:spcPts val="1000"/>
              </a:spcAft>
            </a:pPr>
            <a:r>
              <a:rPr sz="1400" b="0">
                <a:solidFill>
                  <a:srgbClr val="5B6372"/>
                </a:solidFill>
                <a:latin typeface="Arial"/>
              </a:rPr>
              <a:t>–  One generic description is copied across every page.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Generating Titles, Meta Descriptions and On-Page Content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Accurate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The title, H1, snippet preference and page content describe the same primary job.</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Distinct</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Wording differentiates this URL from other site pages.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Natural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Use human-readable language and avoid repeated keyword variants.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Writing Briefs, Outlines and Long-Form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content brief translates research into an editorial contract: audience, user job, primary topic, unique value, approved sources, coverage, exclusions, internal links, conversion path and review criteria. An outline sequences the answer. A draft turns that plan into readable content while retaining source boundaries and the organisation's genuine experience.</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Starting with 'write an SEO article' encourages generic prose and invented facts. Brief-first generation lets the human settle strategy before wording. It also creates checkpoints: an outline can be rejected cheaply, claims can be traced and the draft can be evaluated for completeness without using word count as a proxy for usefulness.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Writing Briefs, Outlines and Long-Form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Complete the brief from the approved cluster, intent plan, source pack and unique contribution.</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Generate an outline with a one-sentence purpose for every section and remove duplicated coverage.</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Draft section by section, preserving citations and adding human examples, edits and a final read-through.</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Writing Briefs, Outlines and Long-Form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carry-on guide promises a printable seven-step checklist and a repair/reuse decision table.</a:t>
            </a:r>
          </a:p>
          <a:p>
            <a:pPr>
              <a:spcAft>
                <a:spcPts val="1000"/>
              </a:spcAft>
            </a:pPr>
            <a:r>
              <a:rPr sz="1600" b="0">
                <a:solidFill>
                  <a:srgbClr val="161B26"/>
                </a:solidFill>
                <a:latin typeface="Arial"/>
              </a:rPr>
              <a:t>•  The outline moves from bag constraints to categories, packing order, organiser choice and a final check.</a:t>
            </a:r>
          </a:p>
          <a:p>
            <a:pPr>
              <a:spcAft>
                <a:spcPts val="1000"/>
              </a:spcAft>
            </a:pPr>
            <a:r>
              <a:rPr sz="1600" b="0">
                <a:solidFill>
                  <a:srgbClr val="161B26"/>
                </a:solidFill>
                <a:latin typeface="Arial"/>
              </a:rPr>
              <a:t>•  The draft uses only supplied product facts; general travel rules stay out unless independently sourced.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team can state what is uniquely useful and which sources support the page.</a:t>
            </a:r>
          </a:p>
          <a:p>
            <a:pPr>
              <a:spcAft>
                <a:spcPts val="1000"/>
              </a:spcAft>
            </a:pPr>
            <a:r>
              <a:rPr sz="1400" b="0">
                <a:solidFill>
                  <a:srgbClr val="5B6372"/>
                </a:solidFill>
                <a:latin typeface="Arial"/>
              </a:rPr>
              <a:t>–  A human editor will review outline, claims, voice and final flow.</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The only brief is a target word count and a keyword-density request.</a:t>
            </a:r>
          </a:p>
          <a:p>
            <a:pPr>
              <a:spcAft>
                <a:spcPts val="1000"/>
              </a:spcAft>
            </a:pPr>
            <a:r>
              <a:rPr sz="1400" b="0">
                <a:solidFill>
                  <a:srgbClr val="5B6372"/>
                </a:solidFill>
                <a:latin typeface="Arial"/>
              </a:rPr>
              <a:t>–  The model is asked to imitate a competitor or rewrite copyrighted text closely.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Writing Briefs, Outlines and Long-Form Content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Brief before prose</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Approve the user job, evidence and unique value before drafting.</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One section, one job</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Give each heading a clear question or decision to resolve.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contribution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Add first-hand detail, examples or judgment that the model cannot supply.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On-Page and Technical SEO Optimisation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On-page SEO covers the visible and embedded signals that explain one page: title, main heading, sections, media text and internal links. Technical SEO ensures search systems can access and process the intended version: crawlable links, an indexable response, a sensible canonical, mobile usability and acceptable page experience. AI can explain code and propose a checklist, but the site owner must inspect the real page and approve changes.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strong article can remain hard to discover if it is blocked, orphaned or duplicated; technical perfection cannot rescue unhelpful content. A layered check—purpose, on-page, crawl/index and experience—keeps the audit proportional and prevents automated tools from producing an unprioritised list of warnings.</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On-Page and Technical SEO Optimisation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Confirm the preferred URL loads, returns indexable content and has a consistent title and main heading.</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Review descriptive crawlable internal links, image text, canonical choice and accidental robots directives.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Record page-experience observations, assign an owner and verify changes with the appropriate live tool.</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On-Page and Technical SEO Optimisation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sample page has a vague title, two H1 elements, a noindex directive and a JavaScript-only link.</a:t>
            </a:r>
          </a:p>
          <a:p>
            <a:pPr>
              <a:spcAft>
                <a:spcPts val="1000"/>
              </a:spcAft>
            </a:pPr>
            <a:r>
              <a:rPr sz="1600" b="0">
                <a:solidFill>
                  <a:srgbClr val="161B26"/>
                </a:solidFill>
                <a:latin typeface="Arial"/>
              </a:rPr>
              <a:t>•  Content edits alone will not solve the noindex issue; the release owner must remove it deliberately.</a:t>
            </a:r>
          </a:p>
          <a:p>
            <a:pPr>
              <a:spcAft>
                <a:spcPts val="1000"/>
              </a:spcAft>
            </a:pPr>
            <a:r>
              <a:rPr sz="1600" b="0">
                <a:solidFill>
                  <a:srgbClr val="161B26"/>
                </a:solidFill>
                <a:latin typeface="Arial"/>
              </a:rPr>
              <a:t>•  The corrected internal link uses a real anchor element and descriptive text to a related packing guide.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 practitioner has authority to inspect the page and can involve a developer for release changes.</a:t>
            </a:r>
          </a:p>
          <a:p>
            <a:pPr>
              <a:spcAft>
                <a:spcPts val="1000"/>
              </a:spcAft>
            </a:pPr>
            <a:r>
              <a:rPr sz="1400" b="0">
                <a:solidFill>
                  <a:srgbClr val="5B6372"/>
                </a:solidFill>
                <a:latin typeface="Arial"/>
              </a:rPr>
              <a:t>–  Each finding is tied to impact, evidence, owner and a verification method.</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AI-generated code is pasted into production without review, backup and testing.</a:t>
            </a:r>
          </a:p>
          <a:p>
            <a:pPr>
              <a:spcAft>
                <a:spcPts val="1000"/>
              </a:spcAft>
            </a:pPr>
            <a:r>
              <a:rPr sz="1400" b="0">
                <a:solidFill>
                  <a:srgbClr val="5B6372"/>
                </a:solidFill>
                <a:latin typeface="Arial"/>
              </a:rPr>
              <a:t>–  Tool scores are treated as ranking guarantees or every warning receives equal priority.</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On-Page and Technical SEO Optimisation with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Layered audit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Check page purpose, on-page signals, crawl/index state and experience separately.</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Evidence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Record the element, URL or tool observation behind each finding.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Release control</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Assign technical changes to an authorised owner and verify after deployment.</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Auditing and Improving Existing Pages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 page audit compares the page's intended job, current evidence and observed performance with a clear standard. Useful findings describe the problem, evidence, likely user or search impact, recommended change, owner and verification step. Improvement is a controlled cycle: establish a baseline, diagnose, prioritise, change, verify and monitor.</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AI can summarise a page and detect inconsistencies, but it lacks proprietary Search Console data unless supplied and may overstate causes. Search performance changes for many reasons. A disciplined audit separates direct observations from hypotheses and avoids rewriting an entire page before the team knows which problem it is solving.</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How It Works — Auditing and Improving Existing Pages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Record the intended query cluster, page job and baseline clicks, impressions, CTR and position context.</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Inspect content, search appearance, links and technical state; label facts, hypotheses and unknowns.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Prioritise by user impact, confidence and effort, implement one coherent change set and monitor.</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In Practice — Auditing and Improving Existing Pages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sample page has impressions but weak clicks for carry-on queries and a title that says only 'Products'.</a:t>
            </a:r>
          </a:p>
          <a:p>
            <a:pPr>
              <a:spcAft>
                <a:spcPts val="1000"/>
              </a:spcAft>
            </a:pPr>
            <a:r>
              <a:rPr sz="1600" b="0">
                <a:solidFill>
                  <a:srgbClr val="161B26"/>
                </a:solidFill>
                <a:latin typeface="Arial"/>
              </a:rPr>
              <a:t>•  The title mismatch is an observation; its contribution to CTR is a hypothesis to test after correction.</a:t>
            </a:r>
          </a:p>
          <a:p>
            <a:pPr>
              <a:spcAft>
                <a:spcPts val="1000"/>
              </a:spcAft>
            </a:pPr>
            <a:r>
              <a:rPr sz="1600" b="0">
                <a:solidFill>
                  <a:srgbClr val="161B26"/>
                </a:solidFill>
                <a:latin typeface="Arial"/>
              </a:rPr>
              <a:t>•  The plan fixes indexability first, then aligns the title/H1 and improves the guide with approved evidence.</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There is a defined page purpose and baseline evidence can be preserved.</a:t>
            </a:r>
          </a:p>
          <a:p>
            <a:pPr>
              <a:spcAft>
                <a:spcPts val="1000"/>
              </a:spcAft>
            </a:pPr>
            <a:r>
              <a:rPr sz="1400" b="0">
                <a:solidFill>
                  <a:srgbClr val="5B6372"/>
                </a:solidFill>
                <a:latin typeface="Arial"/>
              </a:rPr>
              <a:t>–  The team can observe the page after changes and avoid changing unrelated variables at the same time.</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A single metric movement is attributed to one cause without sufficient evidence.</a:t>
            </a:r>
          </a:p>
          <a:p>
            <a:pPr>
              <a:spcAft>
                <a:spcPts val="1000"/>
              </a:spcAft>
            </a:pPr>
            <a:r>
              <a:rPr sz="1400" b="0">
                <a:solidFill>
                  <a:srgbClr val="5B6372"/>
                </a:solidFill>
                <a:latin typeface="Arial"/>
              </a:rPr>
              <a:t>–  An AI audit is used as a direct production-change list without human triage.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Quality Lens — Auditing and Improving Existing Pages</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Observation</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Capture what the page, source code or report actually shows.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Hypothesis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State the suspected effect and confidence without presenting it as fact.</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Verification</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Define what will be checked, by whom and over what observation window.</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p:transition spd="med">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CONCEPT</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Fact-Checking, Quality Control and Google Guidance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DC2626"/>
                </a:solidFill>
                <a:latin typeface="Arial"/>
              </a:rPr>
              <a:t>WHAT</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Quality control verifies claims, sources, originality, usefulness, language, rights, privacy and technical readiness. Google's guidance focuses on helpful, reliable, people-first content and asks creators to consider who made it, how it was made and why it exists. Appropriate AI assistance is not automatically prohibited; using automation primarily to manipulate rankings or create scaled low-value content can violate spam policies.</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WHY IT MATTERS</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Generative systems can produce confident errors, outdated statements and unsupported comparisons. An editorial gate makes every material claim traceable and gives the editor a deliberate Publish, Repair or Hold decision. Disclosing automation may give readers useful context when they would reasonably expect to know how the material was created.</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HUMAN CHECK</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Ground the task in approved facts.</a:t>
            </a:r>
          </a:p>
          <a:p>
            <a:pPr>
              <a:spcAft>
                <a:spcPts val="900"/>
              </a:spcAft>
            </a:pPr>
            <a:r>
              <a:rPr sz="1400" b="0">
                <a:solidFill>
                  <a:srgbClr val="161B26"/>
                </a:solidFill>
                <a:latin typeface="Arial"/>
              </a:rPr>
              <a:t>•  Review evidence, privacy, rights and tone.</a:t>
            </a:r>
          </a:p>
          <a:p>
            <a:pPr>
              <a:spcAft>
                <a:spcPts val="900"/>
              </a:spcAft>
            </a:pPr>
            <a:r>
              <a:rPr sz="1400" b="0">
                <a:solidFill>
                  <a:srgbClr val="161B26"/>
                </a:solidFill>
                <a:latin typeface="Arial"/>
              </a:rPr>
              <a:t>•  Approve, edit or stop before use.</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DC2626"/>
                </a:solidFill>
                <a:latin typeface="Arial"/>
              </a:rPr>
              <a:t>TOPIC 02 · PROCESS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How It Works — Fact-Checking, Quality Control and Google Guidance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071116"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71116"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1</a:t>
            </a:r>
          </a:p>
        </p:txBody>
      </p:sp>
      <p:sp>
        <p:nvSpPr>
          <p:cNvPr id="11" name="TextBox 10"/>
          <p:cNvSpPr txBox="1"/>
          <p:nvPr/>
        </p:nvSpPr>
        <p:spPr>
          <a:xfrm>
            <a:off x="923544"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Build a claim ledger and verify each material statement against an authoritative or approved source.</a:t>
            </a:r>
          </a:p>
        </p:txBody>
      </p:sp>
      <p:sp>
        <p:nvSpPr>
          <p:cNvPr id="12" name="TextBox 11"/>
          <p:cNvSpPr txBox="1"/>
          <p:nvPr/>
        </p:nvSpPr>
        <p:spPr>
          <a:xfrm>
            <a:off x="4078224"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3" name="Rectangle 12"/>
          <p:cNvSpPr/>
          <p:nvPr/>
        </p:nvSpPr>
        <p:spPr>
          <a:xfrm>
            <a:off x="4425696"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25696"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719572"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719572"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2</a:t>
            </a:r>
          </a:p>
        </p:txBody>
      </p:sp>
      <p:sp>
        <p:nvSpPr>
          <p:cNvPr id="17" name="TextBox 16"/>
          <p:cNvSpPr txBox="1"/>
          <p:nvPr/>
        </p:nvSpPr>
        <p:spPr>
          <a:xfrm>
            <a:off x="4572000"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Review originality, audience value, Who-How-Why context, rights, privacy and search-policy risks.</a:t>
            </a:r>
          </a:p>
        </p:txBody>
      </p:sp>
      <p:sp>
        <p:nvSpPr>
          <p:cNvPr id="18" name="TextBox 17"/>
          <p:cNvSpPr txBox="1"/>
          <p:nvPr/>
        </p:nvSpPr>
        <p:spPr>
          <a:xfrm>
            <a:off x="7726680" y="3497580"/>
            <a:ext cx="384048" cy="548640"/>
          </a:xfrm>
          <a:prstGeom prst="rect">
            <a:avLst/>
          </a:prstGeom>
          <a:noFill/>
        </p:spPr>
        <p:txBody>
          <a:bodyPr wrap="square" anchor="ctr">
            <a:spAutoFit/>
          </a:bodyPr>
          <a:lstStyle/>
          <a:p>
            <a:pPr algn="ctr">
              <a:spcAft>
                <a:spcPts val="400"/>
              </a:spcAft>
            </a:pPr>
            <a:r>
              <a:rPr sz="1500" b="1">
                <a:solidFill>
                  <a:srgbClr val="DC2626"/>
                </a:solidFill>
                <a:latin typeface="Arial"/>
              </a:rPr>
              <a:t>▶</a:t>
            </a:r>
          </a:p>
        </p:txBody>
      </p:sp>
      <p:sp>
        <p:nvSpPr>
          <p:cNvPr id="19" name="Rectangle 18"/>
          <p:cNvSpPr/>
          <p:nvPr/>
        </p:nvSpPr>
        <p:spPr>
          <a:xfrm>
            <a:off x="8074152" y="2331720"/>
            <a:ext cx="3337560" cy="28803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74152" y="2331720"/>
            <a:ext cx="3337560" cy="9144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368028" y="2715768"/>
            <a:ext cx="749808" cy="749808"/>
          </a:xfrm>
          <a:prstGeom prst="ellipse">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68028" y="2715768"/>
            <a:ext cx="749808" cy="749808"/>
          </a:xfrm>
          <a:prstGeom prst="rect">
            <a:avLst/>
          </a:prstGeom>
          <a:noFill/>
        </p:spPr>
        <p:txBody>
          <a:bodyPr wrap="square" anchor="ctr">
            <a:spAutoFit/>
          </a:bodyPr>
          <a:lstStyle/>
          <a:p>
            <a:pPr algn="ctr">
              <a:spcAft>
                <a:spcPts val="400"/>
              </a:spcAft>
            </a:pPr>
            <a:r>
              <a:rPr sz="3000" b="1">
                <a:solidFill>
                  <a:srgbClr val="FFFFFF"/>
                </a:solidFill>
                <a:latin typeface="Arial"/>
              </a:rPr>
              <a:t>3</a:t>
            </a:r>
          </a:p>
        </p:txBody>
      </p:sp>
      <p:sp>
        <p:nvSpPr>
          <p:cNvPr id="23" name="TextBox 22"/>
          <p:cNvSpPr txBox="1"/>
          <p:nvPr/>
        </p:nvSpPr>
        <p:spPr>
          <a:xfrm>
            <a:off x="8220456" y="3749040"/>
            <a:ext cx="3044952" cy="1325880"/>
          </a:xfrm>
          <a:prstGeom prst="rect">
            <a:avLst/>
          </a:prstGeom>
          <a:noFill/>
        </p:spPr>
        <p:txBody>
          <a:bodyPr wrap="square" anchor="t">
            <a:spAutoFit/>
          </a:bodyPr>
          <a:lstStyle/>
          <a:p>
            <a:pPr algn="ctr">
              <a:spcAft>
                <a:spcPts val="400"/>
              </a:spcAft>
            </a:pPr>
            <a:r>
              <a:rPr sz="1400" b="0">
                <a:solidFill>
                  <a:srgbClr val="161B26"/>
                </a:solidFill>
                <a:latin typeface="Arial"/>
              </a:rPr>
              <a:t>Run the on-page and technical checks, record the human owner and choose Publish, Repair or Hold.</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WORKED EXAMPLE</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In Practice — Fact-Checking, Quality Control and Google Guidance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WORKED EXAMPLE</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DECISION GUIDE</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The AI draft says MerlionTrail products 'cut packing time by 40%' although no source supports it.</a:t>
            </a:r>
          </a:p>
          <a:p>
            <a:pPr>
              <a:spcAft>
                <a:spcPts val="1000"/>
              </a:spcAft>
            </a:pPr>
            <a:r>
              <a:rPr sz="1600" b="0">
                <a:solidFill>
                  <a:srgbClr val="161B26"/>
                </a:solidFill>
                <a:latin typeface="Arial"/>
              </a:rPr>
              <a:t>•  The editor removes the claim, retains the approved repairable-material facts and records the source.</a:t>
            </a:r>
          </a:p>
          <a:p>
            <a:pPr>
              <a:spcAft>
                <a:spcPts val="1000"/>
              </a:spcAft>
            </a:pPr>
            <a:r>
              <a:rPr sz="1600" b="0">
                <a:solidFill>
                  <a:srgbClr val="161B26"/>
                </a:solidFill>
                <a:latin typeface="Arial"/>
              </a:rPr>
              <a:t>•  The page is held until its noindex directive is removed and the final HTML is checked.</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1">
                <a:solidFill>
                  <a:srgbClr val="161B26"/>
                </a:solidFill>
                <a:latin typeface="Arial"/>
              </a:rPr>
              <a:t>•  Use when</a:t>
            </a:r>
          </a:p>
          <a:p>
            <a:pPr>
              <a:spcAft>
                <a:spcPts val="1000"/>
              </a:spcAft>
            </a:pPr>
            <a:r>
              <a:rPr sz="1400" b="0">
                <a:solidFill>
                  <a:srgbClr val="5B6372"/>
                </a:solidFill>
                <a:latin typeface="Arial"/>
              </a:rPr>
              <a:t>–  Every important claim can be traced, corrected or explicitly marked as unknown.</a:t>
            </a:r>
          </a:p>
          <a:p>
            <a:pPr>
              <a:spcAft>
                <a:spcPts val="1000"/>
              </a:spcAft>
            </a:pPr>
            <a:r>
              <a:rPr sz="1400" b="0">
                <a:solidFill>
                  <a:srgbClr val="5B6372"/>
                </a:solidFill>
                <a:latin typeface="Arial"/>
              </a:rPr>
              <a:t>–  A named human owner can explain the page's purpose and approve publication.</a:t>
            </a:r>
          </a:p>
          <a:p>
            <a:pPr>
              <a:spcAft>
                <a:spcPts val="1000"/>
              </a:spcAft>
            </a:pPr>
            <a:r>
              <a:rPr sz="1600" b="1">
                <a:solidFill>
                  <a:srgbClr val="161B26"/>
                </a:solidFill>
                <a:latin typeface="Arial"/>
              </a:rPr>
              <a:t>•  Avoid when</a:t>
            </a:r>
          </a:p>
          <a:p>
            <a:pPr>
              <a:spcAft>
                <a:spcPts val="1000"/>
              </a:spcAft>
            </a:pPr>
            <a:r>
              <a:rPr sz="1400" b="0">
                <a:solidFill>
                  <a:srgbClr val="5B6372"/>
                </a:solidFill>
                <a:latin typeface="Arial"/>
              </a:rPr>
              <a:t>–  Unsupported claims are kept because they sound plausible or include a desirable keyword.</a:t>
            </a:r>
          </a:p>
          <a:p>
            <a:pPr>
              <a:spcAft>
                <a:spcPts val="1000"/>
              </a:spcAft>
            </a:pPr>
            <a:r>
              <a:rPr sz="1400" b="0">
                <a:solidFill>
                  <a:srgbClr val="5B6372"/>
                </a:solidFill>
                <a:latin typeface="Arial"/>
              </a:rPr>
              <a:t>–  Large batches of near-duplicate pages are generated without original value or editorial review.</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02 · PRACTITIONER CONTROL</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Quality Lens — Fact-Checking, Quality Control and Google Guidance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Truth</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Trace claims to sources and remove or qualify anything unsupported.</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Value</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Confirm the page adds useful, original contribution for its intended audience.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Readiness</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Approve content, rights, privacy, search-policy and technical checks together.</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Hands-On Labs — Creating and Optimising SEO Content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11680"/>
            <a:ext cx="2926080" cy="548640"/>
          </a:xfrm>
          <a:prstGeom prst="rect">
            <a:avLst/>
          </a:prstGeom>
          <a:noFill/>
        </p:spPr>
        <p:txBody>
          <a:bodyPr wrap="square" anchor="t">
            <a:spAutoFit/>
          </a:bodyPr>
          <a:lstStyle/>
          <a:p>
            <a:pPr algn="l">
              <a:spcAft>
                <a:spcPts val="400"/>
              </a:spcAft>
            </a:pPr>
            <a:r>
              <a:rPr sz="1900" b="1">
                <a:solidFill>
                  <a:srgbClr val="1F6FEB"/>
                </a:solidFill>
                <a:latin typeface="Arial"/>
              </a:rPr>
              <a:t>Lab 4</a:t>
            </a:r>
          </a:p>
        </p:txBody>
      </p:sp>
      <p:sp>
        <p:nvSpPr>
          <p:cNvPr id="10" name="TextBox 9"/>
          <p:cNvSpPr txBox="1"/>
          <p:nvPr/>
        </p:nvSpPr>
        <p:spPr>
          <a:xfrm>
            <a:off x="100584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Create the SEO Brief, Outline, Metadata and First Draft</a:t>
            </a:r>
          </a:p>
        </p:txBody>
      </p:sp>
      <p:sp>
        <p:nvSpPr>
          <p:cNvPr id="11" name="Rectangle 10"/>
          <p:cNvSpPr/>
          <p:nvPr/>
        </p:nvSpPr>
        <p:spPr>
          <a:xfrm>
            <a:off x="457200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0" y="1783080"/>
            <a:ext cx="3337560"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0600" y="2011680"/>
            <a:ext cx="2926080" cy="548640"/>
          </a:xfrm>
          <a:prstGeom prst="rect">
            <a:avLst/>
          </a:prstGeom>
          <a:noFill/>
        </p:spPr>
        <p:txBody>
          <a:bodyPr wrap="square" anchor="t">
            <a:spAutoFit/>
          </a:bodyPr>
          <a:lstStyle/>
          <a:p>
            <a:pPr algn="l">
              <a:spcAft>
                <a:spcPts val="400"/>
              </a:spcAft>
            </a:pPr>
            <a:r>
              <a:rPr sz="1900" b="1">
                <a:solidFill>
                  <a:srgbClr val="10B981"/>
                </a:solidFill>
                <a:latin typeface="Arial"/>
              </a:rPr>
              <a:t>Lab 5</a:t>
            </a:r>
          </a:p>
        </p:txBody>
      </p:sp>
      <p:sp>
        <p:nvSpPr>
          <p:cNvPr id="14" name="TextBox 13"/>
          <p:cNvSpPr txBox="1"/>
          <p:nvPr/>
        </p:nvSpPr>
        <p:spPr>
          <a:xfrm>
            <a:off x="480060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Audit and Optimise the Existing Page</a:t>
            </a:r>
          </a:p>
        </p:txBody>
      </p:sp>
      <p:sp>
        <p:nvSpPr>
          <p:cNvPr id="15" name="Rectangle 14"/>
          <p:cNvSpPr/>
          <p:nvPr/>
        </p:nvSpPr>
        <p:spPr>
          <a:xfrm>
            <a:off x="836676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66760" y="1783080"/>
            <a:ext cx="3337560" cy="1097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0" y="2011680"/>
            <a:ext cx="2926080" cy="548640"/>
          </a:xfrm>
          <a:prstGeom prst="rect">
            <a:avLst/>
          </a:prstGeom>
          <a:noFill/>
        </p:spPr>
        <p:txBody>
          <a:bodyPr wrap="square" anchor="t">
            <a:spAutoFit/>
          </a:bodyPr>
          <a:lstStyle/>
          <a:p>
            <a:pPr algn="l">
              <a:spcAft>
                <a:spcPts val="400"/>
              </a:spcAft>
            </a:pPr>
            <a:r>
              <a:rPr sz="1900" b="1">
                <a:solidFill>
                  <a:srgbClr val="7C3AED"/>
                </a:solidFill>
                <a:latin typeface="Arial"/>
              </a:rPr>
              <a:t>Lab 6</a:t>
            </a:r>
          </a:p>
        </p:txBody>
      </p:sp>
      <p:sp>
        <p:nvSpPr>
          <p:cNvPr id="18" name="TextBox 17"/>
          <p:cNvSpPr txBox="1"/>
          <p:nvPr/>
        </p:nvSpPr>
        <p:spPr>
          <a:xfrm>
            <a:off x="8595360" y="2697480"/>
            <a:ext cx="2926080" cy="3108960"/>
          </a:xfrm>
          <a:prstGeom prst="rect">
            <a:avLst/>
          </a:prstGeom>
          <a:noFill/>
        </p:spPr>
        <p:txBody>
          <a:bodyPr wrap="square">
            <a:spAutoFit/>
          </a:bodyPr>
          <a:lstStyle/>
          <a:p>
            <a:pPr>
              <a:spcAft>
                <a:spcPts val="900"/>
              </a:spcAft>
            </a:pPr>
            <a:r>
              <a:rPr sz="1400" b="0">
                <a:solidFill>
                  <a:srgbClr val="161B26"/>
                </a:solidFill>
                <a:latin typeface="Arial"/>
              </a:rPr>
              <a:t>•  Run the Quality Gate and Build the SEO Improvement Plan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med">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the SEO Brief, Outline, Metadata and First Draft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4</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turn the approved Pack a Carry-On plan into a content brief, outline, title preference, meta description, opening and checklist. The assistant may use only supplied sources, and every factual claim must carry a source label for later verification.</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work-c11/04-content-package.md containing the approved brief, outline, three title options, two meta descriptions, a selected opening and checklist, claim labels and a human edit log</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Complete the brief</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Approve the outline</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Draft metadata</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Generate grounded copy</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Text editor - AI assistant - content-brief-template.md - prior lab checkpoints</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4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Create the SEO Brief, Outline, Metadata and First Draft</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800" b="0">
                <a:solidFill>
                  <a:srgbClr val="161B26"/>
                </a:solidFill>
                <a:latin typeface="Arial"/>
              </a:rPr>
              <a:t>The package must have every brief field, a five-to-seven-section outline with no UNKNOWN source kept, three title options, two descriptions, one selected title and description, a selected 100-150 word opening, a 350-500 word checklist, a claim ledger and at least three human edits. Prohibited superlatives and ranking promises must be absent.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Audit and Optimise the Existing Page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5</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inspect a deliberately flawed local HTML page. The audit separates page purpose, on-page signals, crawl/index state and experience. You will record evidence for every finding, correct the authorised local copy, preserve a before/after diff and keep production deployment as a separate human-controlled action.</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600" b="1">
                <a:solidFill>
                  <a:srgbClr val="161B26"/>
                </a:solidFill>
                <a:latin typeface="Arial"/>
              </a:rPr>
              <a:t>work-c11/05-page-audit.csv, work-c11/05-optimised-page.html and work-c11/05-page-changes.diff with evidence, priorities, authorised corrections and an explicit verification record</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Baseline the page</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Audit four layers</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Prioritise findings</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Correct and verify</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Browser - text editor - spreadsheet - AI assistant - existing-carry-on-page.html</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5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Audit and Optimise the Existing Page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800" b="0">
                <a:solidFill>
                  <a:srgbClr val="161B26"/>
                </a:solidFill>
                <a:latin typeface="Arial"/>
              </a:rPr>
              <a:t>The audit must contain at least ten evidence-backed findings across all four layers, one priority, owner and verification per row. The corrected HTML must pass every checklist item and open locally. The diff must show only changes represented in the audit, and head values must be verified through source or developer tools. No row may promise ranking or traffic.</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TOPIC 02 · HANDS-ON</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Run the Quality Gate and Build the SEO Improvement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LAB 6</a:t>
            </a:r>
          </a:p>
        </p:txBody>
      </p:sp>
      <p:sp>
        <p:nvSpPr>
          <p:cNvPr id="9" name="TextBox 8"/>
          <p:cNvSpPr txBox="1"/>
          <p:nvPr/>
        </p:nvSpPr>
        <p:spPr>
          <a:xfrm>
            <a:off x="777240" y="2331720"/>
            <a:ext cx="10698480" cy="1143000"/>
          </a:xfrm>
          <a:prstGeom prst="rect">
            <a:avLst/>
          </a:prstGeom>
          <a:noFill/>
        </p:spPr>
        <p:txBody>
          <a:bodyPr wrap="square" anchor="t">
            <a:spAutoFit/>
          </a:bodyPr>
          <a:lstStyle/>
          <a:p>
            <a:pPr algn="l">
              <a:spcAft>
                <a:spcPts val="400"/>
              </a:spcAft>
            </a:pPr>
            <a:r>
              <a:rPr sz="1700" b="0">
                <a:solidFill>
                  <a:srgbClr val="161B26"/>
                </a:solidFill>
                <a:latin typeface="Arial"/>
              </a:rPr>
              <a:t>You will complete the workflow with a claim ledger, people-first content review, synthetic performance baseline and release decision. The final plan separates observations from hypotheses and states which owner will verify content and technical changes before any live publication.</a:t>
            </a:r>
          </a:p>
        </p:txBody>
      </p:sp>
      <p:sp>
        <p:nvSpPr>
          <p:cNvPr id="10" name="Rectangle 9"/>
          <p:cNvSpPr/>
          <p:nvPr/>
        </p:nvSpPr>
        <p:spPr>
          <a:xfrm>
            <a:off x="777240" y="3657600"/>
            <a:ext cx="10698480"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3822191"/>
            <a:ext cx="10058400" cy="32004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2" name="TextBox 11"/>
          <p:cNvSpPr txBox="1"/>
          <p:nvPr/>
        </p:nvSpPr>
        <p:spPr>
          <a:xfrm>
            <a:off x="1005840" y="4096512"/>
            <a:ext cx="10058400" cy="658368"/>
          </a:xfrm>
          <a:prstGeom prst="rect">
            <a:avLst/>
          </a:prstGeom>
          <a:noFill/>
        </p:spPr>
        <p:txBody>
          <a:bodyPr wrap="square" anchor="t">
            <a:spAutoFit/>
          </a:bodyPr>
          <a:lstStyle/>
          <a:p>
            <a:pPr algn="l">
              <a:spcAft>
                <a:spcPts val="400"/>
              </a:spcAft>
            </a:pPr>
            <a:r>
              <a:rPr sz="1400" b="1">
                <a:solidFill>
                  <a:srgbClr val="161B26"/>
                </a:solidFill>
                <a:latin typeface="Arial"/>
              </a:rPr>
              <a:t>work-c11/06-quality-gate.md, work-c11/06-performance-baseline.csv and work-c11/06-action-plan.csv with claim evidence, Who-How-Why review, calculated CTR, three actions, guardrails and a final decision</a:t>
            </a:r>
          </a:p>
        </p:txBody>
      </p:sp>
      <p:sp>
        <p:nvSpPr>
          <p:cNvPr id="13" name="Rectangle 12"/>
          <p:cNvSpPr/>
          <p:nvPr/>
        </p:nvSpPr>
        <p:spPr>
          <a:xfrm>
            <a:off x="10058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89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1  Build the claim ledger</a:t>
            </a:r>
          </a:p>
        </p:txBody>
      </p:sp>
      <p:sp>
        <p:nvSpPr>
          <p:cNvPr id="15" name="Rectangle 14"/>
          <p:cNvSpPr/>
          <p:nvPr/>
        </p:nvSpPr>
        <p:spPr>
          <a:xfrm>
            <a:off x="35204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35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2  Apply Who-How-Why</a:t>
            </a:r>
          </a:p>
        </p:txBody>
      </p:sp>
      <p:sp>
        <p:nvSpPr>
          <p:cNvPr id="17" name="Rectangle 16"/>
          <p:cNvSpPr/>
          <p:nvPr/>
        </p:nvSpPr>
        <p:spPr>
          <a:xfrm>
            <a:off x="60350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081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3  Review performance evidence</a:t>
            </a:r>
          </a:p>
        </p:txBody>
      </p:sp>
      <p:sp>
        <p:nvSpPr>
          <p:cNvPr id="19" name="Rectangle 18"/>
          <p:cNvSpPr/>
          <p:nvPr/>
        </p:nvSpPr>
        <p:spPr>
          <a:xfrm>
            <a:off x="8549640" y="4828032"/>
            <a:ext cx="2286000" cy="47548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22792" y="4882896"/>
            <a:ext cx="2139696" cy="347472"/>
          </a:xfrm>
          <a:prstGeom prst="rect">
            <a:avLst/>
          </a:prstGeom>
          <a:noFill/>
        </p:spPr>
        <p:txBody>
          <a:bodyPr wrap="square" anchor="ctr">
            <a:spAutoFit/>
          </a:bodyPr>
          <a:lstStyle/>
          <a:p>
            <a:pPr algn="ctr">
              <a:spcAft>
                <a:spcPts val="400"/>
              </a:spcAft>
            </a:pPr>
            <a:r>
              <a:rPr sz="1200" b="1">
                <a:solidFill>
                  <a:srgbClr val="161B26"/>
                </a:solidFill>
                <a:latin typeface="Arial"/>
              </a:rPr>
              <a:t>4  Decide and monitor</a:t>
            </a:r>
          </a:p>
        </p:txBody>
      </p:sp>
      <p:sp>
        <p:nvSpPr>
          <p:cNvPr id="21" name="TextBox 20"/>
          <p:cNvSpPr txBox="1"/>
          <p:nvPr/>
        </p:nvSpPr>
        <p:spPr>
          <a:xfrm>
            <a:off x="1005840" y="5504688"/>
            <a:ext cx="10241280" cy="274320"/>
          </a:xfrm>
          <a:prstGeom prst="rect">
            <a:avLst/>
          </a:prstGeom>
          <a:noFill/>
        </p:spPr>
        <p:txBody>
          <a:bodyPr wrap="square" anchor="t">
            <a:spAutoFit/>
          </a:bodyPr>
          <a:lstStyle/>
          <a:p>
            <a:pPr algn="l">
              <a:spcAft>
                <a:spcPts val="400"/>
              </a:spcAft>
            </a:pPr>
            <a:r>
              <a:rPr sz="1200" b="1">
                <a:solidFill>
                  <a:srgbClr val="5B6372"/>
                </a:solidFill>
                <a:latin typeface="Arial"/>
              </a:rPr>
              <a:t>Tools:  </a:t>
            </a:r>
            <a:r>
              <a:rPr sz="1200" b="0">
                <a:solidFill>
                  <a:srgbClr val="5B6372"/>
                </a:solidFill>
                <a:latin typeface="Arial"/>
              </a:rPr>
              <a:t>Text editor - spreadsheet - AI assistant - corrected HTML - synthetic-search-console.csv</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med">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0B981"/>
                </a:solidFill>
                <a:latin typeface="Arial"/>
              </a:rPr>
              <a:t>LAB 6 · VERIFY</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500" b="1">
                <a:solidFill>
                  <a:srgbClr val="161B26"/>
                </a:solidFill>
                <a:latin typeface="Arial"/>
              </a:rPr>
              <a:t>Run the Quality Gate and Build the SEO Improvement Plan</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2103120"/>
            <a:ext cx="10698480" cy="256032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Test it</a:t>
            </a:r>
          </a:p>
        </p:txBody>
      </p:sp>
      <p:sp>
        <p:nvSpPr>
          <p:cNvPr id="9" name="TextBox 8"/>
          <p:cNvSpPr txBox="1"/>
          <p:nvPr/>
        </p:nvSpPr>
        <p:spPr>
          <a:xfrm>
            <a:off x="1097280" y="2971800"/>
            <a:ext cx="10058400" cy="1508760"/>
          </a:xfrm>
          <a:prstGeom prst="rect">
            <a:avLst/>
          </a:prstGeom>
          <a:noFill/>
        </p:spPr>
        <p:txBody>
          <a:bodyPr wrap="square" anchor="t">
            <a:spAutoFit/>
          </a:bodyPr>
          <a:lstStyle/>
          <a:p>
            <a:pPr algn="l">
              <a:spcAft>
                <a:spcPts val="400"/>
              </a:spcAft>
            </a:pPr>
            <a:r>
              <a:rPr sz="1600" b="0">
                <a:solidFill>
                  <a:srgbClr val="161B26"/>
                </a:solidFill>
                <a:latin typeface="Arial"/>
              </a:rPr>
              <a:t>The quality gate must contain a complete claim ledger, Who-How-Why review, rights/privacy/scaled-content checks, dated official guidance citations and the required Repair decision. The performance baseline must preserve six synthetic rows and show CTR values 1.50%, 1.00%, 1.33%, 2.30%, 1.43% and N/A. The separate action plan must contain exactly three rows with priority, owner, window, success signal and guardrail. Observations and hypotheses must be visibly separate.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TOPIC RECAP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100" b="1">
                <a:solidFill>
                  <a:srgbClr val="161B26"/>
                </a:solidFill>
                <a:latin typeface="Arial"/>
              </a:rPr>
              <a:t>Recap - Creating and Optimising SEO Content with Generative AI</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LO3 - Create and Optimise: Turn the approved intent plan into a source-grounded brief, outline, metadata, opening and checklist with a claim ledger and human edits.</a:t>
            </a:r>
          </a:p>
        </p:txBody>
      </p:sp>
      <p:sp>
        <p:nvSpPr>
          <p:cNvPr id="12" name="Rectangle 11"/>
          <p:cNvSpPr/>
          <p:nvPr/>
        </p:nvSpPr>
        <p:spPr>
          <a:xfrm>
            <a:off x="777240" y="4059936"/>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53896" y="4133088"/>
            <a:ext cx="9738360" cy="1920240"/>
          </a:xfrm>
          <a:prstGeom prst="rect">
            <a:avLst/>
          </a:prstGeom>
          <a:noFill/>
        </p:spPr>
        <p:txBody>
          <a:bodyPr wrap="square" anchor="ctr">
            <a:spAutoFit/>
          </a:bodyPr>
          <a:lstStyle/>
          <a:p>
            <a:pPr algn="l">
              <a:spcAft>
                <a:spcPts val="400"/>
              </a:spcAft>
            </a:pPr>
            <a:r>
              <a:rPr sz="1700" b="0">
                <a:solidFill>
                  <a:srgbClr val="161B26"/>
                </a:solidFill>
                <a:latin typeface="Arial"/>
              </a:rPr>
              <a:t>LO4 - Audit and Verify: Audit purpose, on-page, crawl/index and experience layers; correct the local page; and make a source-backed Repair decision with owners, metrics and guardrails.</a:t>
            </a:r>
          </a:p>
        </p:txBody>
      </p:sp>
      <p:sp>
        <p:nvSpPr>
          <p:cNvPr id="17" name="TextBox 1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18" name="TextBox 1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9" name="TextBox 1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Set Up &amp; Prompt</a:t>
            </a:r>
          </a:p>
          <a:p>
            <a:pPr algn="l">
              <a:spcAft>
                <a:spcPts val="300"/>
              </a:spcAft>
            </a:pPr>
            <a:r>
              <a:rPr sz="1300" b="0">
                <a:solidFill>
                  <a:srgbClr val="5B6372"/>
                </a:solidFill>
                <a:latin typeface="Arial"/>
              </a:rPr>
              <a:t>Explain how SEO and generative AI work together, set safe working boundaries and use a structured prompt-and-review method.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Research &amp; Plan</a:t>
            </a:r>
          </a:p>
          <a:p>
            <a:pPr algn="l">
              <a:spcAft>
                <a:spcPts val="300"/>
              </a:spcAft>
            </a:pPr>
            <a:r>
              <a:rPr sz="1300" b="0">
                <a:solidFill>
                  <a:srgbClr val="5B6372"/>
                </a:solidFill>
                <a:latin typeface="Arial"/>
              </a:rPr>
              <a:t>Build an evidence-led keyword universe, topic clusters and a search-intent content plan with AI assistance.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Create &amp; Optimise</a:t>
            </a:r>
          </a:p>
          <a:p>
            <a:pPr algn="l">
              <a:spcAft>
                <a:spcPts val="300"/>
              </a:spcAft>
            </a:pPr>
            <a:r>
              <a:rPr sz="1300" b="0">
                <a:solidFill>
                  <a:srgbClr val="5B6372"/>
                </a:solidFill>
                <a:latin typeface="Arial"/>
              </a:rPr>
              <a:t>Create an SEO content brief, outline, title, meta description and on-page draft that remain grounded in approved sources.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Audit &amp; Verify</a:t>
            </a:r>
          </a:p>
          <a:p>
            <a:pPr algn="l">
              <a:spcAft>
                <a:spcPts val="300"/>
              </a:spcAft>
            </a:pPr>
            <a:r>
              <a:rPr sz="1300" b="0">
                <a:solidFill>
                  <a:srgbClr val="5B6372"/>
                </a:solidFill>
                <a:latin typeface="Arial"/>
              </a:rPr>
              <a:t>Audit and improve an existing page for content, on-page and technical SEO, then verify quality against Google guidance.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NEXT STEPS</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Continue the Workflow</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Reuse the prompt, research and quality-control templates on an authorised page.</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Refresh query and result-page evidence before making a new content decision.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Monitor outcomes in Search Console and distinguish observations from hypotheses.</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a human owner accountable for every page change and publication decision.</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38912"/>
            <a:ext cx="10881360" cy="365760"/>
          </a:xfrm>
          <a:prstGeom prst="rect">
            <a:avLst/>
          </a:prstGeom>
          <a:noFill/>
        </p:spPr>
        <p:txBody>
          <a:bodyPr wrap="square" anchor="t">
            <a:spAutoFit/>
          </a:bodyPr>
          <a:lstStyle/>
          <a:p>
            <a:pPr algn="l">
              <a:spcAft>
                <a:spcPts val="400"/>
              </a:spcAft>
            </a:pPr>
            <a:r>
              <a:rPr sz="1400" b="1">
                <a:solidFill>
                  <a:srgbClr val="1F6FEB"/>
                </a:solidFill>
                <a:latin typeface="Arial"/>
              </a:rPr>
              <a:t>WRAP-UP</a:t>
            </a:r>
          </a:p>
        </p:txBody>
      </p:sp>
      <p:sp>
        <p:nvSpPr>
          <p:cNvPr id="5" name="TextBox 4"/>
          <p:cNvSpPr txBox="1"/>
          <p:nvPr/>
        </p:nvSpPr>
        <p:spPr>
          <a:xfrm>
            <a:off x="777240" y="822960"/>
            <a:ext cx="10927080" cy="749808"/>
          </a:xfrm>
          <a:prstGeom prst="rect">
            <a:avLst/>
          </a:prstGeom>
          <a:noFill/>
        </p:spPr>
        <p:txBody>
          <a:bodyPr wrap="square" anchor="ctr">
            <a:spAutoFit/>
          </a:bodyPr>
          <a:lstStyle/>
          <a:p>
            <a:pPr algn="l">
              <a:spcAft>
                <a:spcPts val="400"/>
              </a:spcAft>
            </a:pPr>
            <a:r>
              <a:rPr sz="2900" b="1">
                <a:solidFill>
                  <a:srgbClr val="161B26"/>
                </a:solidFill>
                <a:latin typeface="Arial"/>
              </a:rPr>
              <a:t>Keep Practising After the Course</a:t>
            </a:r>
          </a:p>
        </p:txBody>
      </p:sp>
      <p:sp>
        <p:nvSpPr>
          <p:cNvPr id="6" name="Rectangle 5"/>
          <p:cNvSpPr/>
          <p:nvPr/>
        </p:nvSpPr>
        <p:spPr>
          <a:xfrm>
            <a:off x="777240" y="164592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0120"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53896"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Re-run the labs on your own machine — repetition is what makes the skills stick.</a:t>
            </a:r>
          </a:p>
        </p:txBody>
      </p:sp>
      <p:sp>
        <p:nvSpPr>
          <p:cNvPr id="12" name="Rectangle 11"/>
          <p:cNvSpPr/>
          <p:nvPr/>
        </p:nvSpPr>
        <p:spPr>
          <a:xfrm>
            <a:off x="6176772" y="1828800"/>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76772" y="1828800"/>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359652" y="2688336"/>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9652" y="2706624"/>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2</a:t>
            </a:r>
          </a:p>
        </p:txBody>
      </p:sp>
      <p:sp>
        <p:nvSpPr>
          <p:cNvPr id="16" name="TextBox 15"/>
          <p:cNvSpPr txBox="1"/>
          <p:nvPr/>
        </p:nvSpPr>
        <p:spPr>
          <a:xfrm>
            <a:off x="6853428" y="1901952"/>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Apply the techniques to a real process or project in your own organisation.</a:t>
            </a:r>
          </a:p>
        </p:txBody>
      </p:sp>
      <p:sp>
        <p:nvSpPr>
          <p:cNvPr id="17" name="Rectangle 16"/>
          <p:cNvSpPr/>
          <p:nvPr/>
        </p:nvSpPr>
        <p:spPr>
          <a:xfrm>
            <a:off x="777240"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0120"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53896"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Keep your downloaded C11 course files and use the lab checkpoints to restart safely.</a:t>
            </a:r>
          </a:p>
        </p:txBody>
      </p:sp>
      <p:sp>
        <p:nvSpPr>
          <p:cNvPr id="22" name="Rectangle 21"/>
          <p:cNvSpPr/>
          <p:nvPr/>
        </p:nvSpPr>
        <p:spPr>
          <a:xfrm>
            <a:off x="6176772" y="4059936"/>
            <a:ext cx="5234940"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6772" y="4059936"/>
            <a:ext cx="64008"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59652" y="4919472"/>
            <a:ext cx="347472" cy="34747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59652" y="4937760"/>
            <a:ext cx="347472" cy="310896"/>
          </a:xfrm>
          <a:prstGeom prst="rect">
            <a:avLst/>
          </a:prstGeom>
          <a:noFill/>
        </p:spPr>
        <p:txBody>
          <a:bodyPr wrap="square" anchor="t">
            <a:spAutoFit/>
          </a:bodyPr>
          <a:lstStyle/>
          <a:p>
            <a:pPr algn="ctr">
              <a:spcAft>
                <a:spcPts val="400"/>
              </a:spcAft>
            </a:pPr>
            <a:r>
              <a:rPr sz="1300" b="1">
                <a:solidFill>
                  <a:srgbClr val="FFFFFF"/>
                </a:solidFill>
                <a:latin typeface="Arial"/>
              </a:rPr>
              <a:t>4</a:t>
            </a:r>
          </a:p>
        </p:txBody>
      </p:sp>
      <p:sp>
        <p:nvSpPr>
          <p:cNvPr id="26" name="TextBox 25"/>
          <p:cNvSpPr txBox="1"/>
          <p:nvPr/>
        </p:nvSpPr>
        <p:spPr>
          <a:xfrm>
            <a:off x="6853428" y="4133088"/>
            <a:ext cx="4338828" cy="1920240"/>
          </a:xfrm>
          <a:prstGeom prst="rect">
            <a:avLst/>
          </a:prstGeom>
          <a:noFill/>
        </p:spPr>
        <p:txBody>
          <a:bodyPr wrap="square" anchor="ctr">
            <a:spAutoFit/>
          </a:bodyPr>
          <a:lstStyle/>
          <a:p>
            <a:pPr algn="l">
              <a:spcAft>
                <a:spcPts val="400"/>
              </a:spcAft>
            </a:pPr>
            <a:r>
              <a:rPr sz="1600" b="0">
                <a:solidFill>
                  <a:srgbClr val="161B26"/>
                </a:solidFill>
                <a:latin typeface="Arial"/>
              </a:rPr>
              <a:t>Explore the follow-on courses at www.tertiarycourses.com.sg.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GENERATIVE AI FOR SEO · C11</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research, create, optimise and verify SEO content with generative AI while keeping evidence, useful purpose and human judgment in control.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Generative AI for SEO  ·  C11</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